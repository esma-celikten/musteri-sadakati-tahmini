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4" r:id="rId6"/>
    <p:sldId id="260" r:id="rId7"/>
    <p:sldId id="261" r:id="rId8"/>
    <p:sldId id="262" r:id="rId9"/>
    <p:sldId id="263" r:id="rId10"/>
    <p:sldId id="265" r:id="rId11"/>
    <p:sldId id="266" r:id="rId12"/>
    <p:sldId id="267" r:id="rId13"/>
    <p:sldId id="268" r:id="rId14"/>
    <p:sldId id="269" r:id="rId15"/>
    <p:sldId id="270" r:id="rId16"/>
    <p:sldId id="272" r:id="rId17"/>
    <p:sldId id="274" r:id="rId18"/>
    <p:sldId id="273" r:id="rId19"/>
    <p:sldId id="275" r:id="rId20"/>
    <p:sldId id="271" r:id="rId21"/>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CA016E-71FE-1FBE-8E27-8A7ACCEE7E0A}" v="28" dt="2026-03-22T17:56:07.632"/>
    <p1510:client id="{E6923328-58DB-4929-B479-88FF08C917E8}" v="29" dt="2026-03-22T17:34:34.762"/>
    <p1510:client id="{F390F36D-8A5E-7916-98EA-FD33E56BC14E}" v="5" dt="2026-03-22T17:52:17.0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4" d="100"/>
          <a:sy n="74" d="100"/>
        </p:scale>
        <p:origin x="104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3/22/2026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991965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3/22/2026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270714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3/22/2026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73197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3/22/2026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6136545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3/22/2026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2186525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3/22/2026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57287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3/22/2026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2486869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3/22/2026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584237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3/22/2026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367505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3/22/2026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623876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3/22/2026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2386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3/22/2026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990247549"/>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89" r:id="rId6"/>
    <p:sldLayoutId id="2147483685" r:id="rId7"/>
    <p:sldLayoutId id="2147483686" r:id="rId8"/>
    <p:sldLayoutId id="2147483687" r:id="rId9"/>
    <p:sldLayoutId id="2147483688" r:id="rId10"/>
    <p:sldLayoutId id="2147483690"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8">
            <a:extLst>
              <a:ext uri="{FF2B5EF4-FFF2-40B4-BE49-F238E27FC236}">
                <a16:creationId xmlns:a16="http://schemas.microsoft.com/office/drawing/2014/main" id="{B7E2F724-2FB3-4D1D-A730-739B8654C0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3">
            <a:extLst>
              <a:ext uri="{FF2B5EF4-FFF2-40B4-BE49-F238E27FC236}">
                <a16:creationId xmlns:a16="http://schemas.microsoft.com/office/drawing/2014/main" id="{109D4D82-9A66-075B-EF0A-00C33851A267}"/>
              </a:ext>
            </a:extLst>
          </p:cNvPr>
          <p:cNvPicPr>
            <a:picLocks noChangeAspect="1"/>
          </p:cNvPicPr>
          <p:nvPr/>
        </p:nvPicPr>
        <p:blipFill>
          <a:blip r:embed="rId2">
            <a:alphaModFix amt="40000"/>
          </a:blip>
          <a:srcRect l="1304" r="9807"/>
          <a:stretch>
            <a:fillRect/>
          </a:stretch>
        </p:blipFill>
        <p:spPr>
          <a:xfrm>
            <a:off x="-1" y="0"/>
            <a:ext cx="12192001" cy="6858001"/>
          </a:xfrm>
          <a:prstGeom prst="rect">
            <a:avLst/>
          </a:prstGeom>
        </p:spPr>
      </p:pic>
      <p:sp>
        <p:nvSpPr>
          <p:cNvPr id="2" name="Başlık 1">
            <a:extLst>
              <a:ext uri="{FF2B5EF4-FFF2-40B4-BE49-F238E27FC236}">
                <a16:creationId xmlns:a16="http://schemas.microsoft.com/office/drawing/2014/main" id="{DE813457-C25F-2C08-F058-859EED939159}"/>
              </a:ext>
            </a:extLst>
          </p:cNvPr>
          <p:cNvSpPr>
            <a:spLocks noGrp="1"/>
          </p:cNvSpPr>
          <p:nvPr>
            <p:ph type="ctrTitle"/>
          </p:nvPr>
        </p:nvSpPr>
        <p:spPr>
          <a:xfrm>
            <a:off x="517870" y="978407"/>
            <a:ext cx="8685124" cy="3290107"/>
          </a:xfrm>
        </p:spPr>
        <p:txBody>
          <a:bodyPr anchor="t">
            <a:normAutofit/>
          </a:bodyPr>
          <a:lstStyle/>
          <a:p>
            <a:pPr>
              <a:lnSpc>
                <a:spcPct val="90000"/>
              </a:lnSpc>
            </a:pPr>
            <a:r>
              <a:rPr lang="tr-TR" sz="4200" dirty="0">
                <a:solidFill>
                  <a:srgbClr val="FFFFFF"/>
                </a:solidFill>
              </a:rPr>
              <a:t>Müşteri Sadakatini Tahmin Etmek:</a:t>
            </a:r>
            <a:br>
              <a:rPr lang="tr-TR" sz="4200" dirty="0">
                <a:solidFill>
                  <a:srgbClr val="FFFFFF"/>
                </a:solidFill>
              </a:rPr>
            </a:br>
            <a:r>
              <a:rPr lang="tr-TR" sz="4200" dirty="0">
                <a:solidFill>
                  <a:srgbClr val="FFFFFF"/>
                </a:solidFill>
              </a:rPr>
              <a:t>E-Ticaret Veri Analitiği Projesi</a:t>
            </a:r>
          </a:p>
        </p:txBody>
      </p:sp>
      <p:sp>
        <p:nvSpPr>
          <p:cNvPr id="3" name="Alt Başlık 2">
            <a:extLst>
              <a:ext uri="{FF2B5EF4-FFF2-40B4-BE49-F238E27FC236}">
                <a16:creationId xmlns:a16="http://schemas.microsoft.com/office/drawing/2014/main" id="{97ECB9F9-C758-E930-A25D-A0F9BD1AA31C}"/>
              </a:ext>
            </a:extLst>
          </p:cNvPr>
          <p:cNvSpPr>
            <a:spLocks noGrp="1"/>
          </p:cNvSpPr>
          <p:nvPr>
            <p:ph type="subTitle" idx="1"/>
          </p:nvPr>
        </p:nvSpPr>
        <p:spPr>
          <a:xfrm>
            <a:off x="616193" y="2566983"/>
            <a:ext cx="5479807" cy="1724029"/>
          </a:xfrm>
        </p:spPr>
        <p:txBody>
          <a:bodyPr anchor="t">
            <a:normAutofit/>
          </a:bodyPr>
          <a:lstStyle/>
          <a:p>
            <a:r>
              <a:rPr lang="tr-TR" sz="2400" dirty="0">
                <a:solidFill>
                  <a:srgbClr val="FFFFFF"/>
                </a:solidFill>
              </a:rPr>
              <a:t>İstanbul Teknik Üniversitesi </a:t>
            </a:r>
          </a:p>
          <a:p>
            <a:r>
              <a:rPr lang="tr-TR" sz="2400" dirty="0">
                <a:solidFill>
                  <a:srgbClr val="FFFFFF"/>
                </a:solidFill>
              </a:rPr>
              <a:t>Büyük Veri ve İş Analitiği Uzmanlığı </a:t>
            </a:r>
          </a:p>
          <a:p>
            <a:r>
              <a:rPr lang="tr-TR" sz="2400" dirty="0">
                <a:solidFill>
                  <a:srgbClr val="FFFFFF"/>
                </a:solidFill>
              </a:rPr>
              <a:t>Sertifika Programı Final Projesi</a:t>
            </a:r>
          </a:p>
        </p:txBody>
      </p:sp>
      <p:sp>
        <p:nvSpPr>
          <p:cNvPr id="17" name="Rectangle 10">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Metin kutusu 4">
            <a:extLst>
              <a:ext uri="{FF2B5EF4-FFF2-40B4-BE49-F238E27FC236}">
                <a16:creationId xmlns:a16="http://schemas.microsoft.com/office/drawing/2014/main" id="{1D0F9329-2DA8-2A45-79C6-FD220531F57E}"/>
              </a:ext>
            </a:extLst>
          </p:cNvPr>
          <p:cNvSpPr txBox="1"/>
          <p:nvPr/>
        </p:nvSpPr>
        <p:spPr>
          <a:xfrm>
            <a:off x="9021893" y="5251523"/>
            <a:ext cx="2801914" cy="923330"/>
          </a:xfrm>
          <a:prstGeom prst="rect">
            <a:avLst/>
          </a:prstGeom>
          <a:noFill/>
        </p:spPr>
        <p:txBody>
          <a:bodyPr wrap="square" lIns="91440" tIns="45720" rIns="91440" bIns="45720" rtlCol="0" anchor="t">
            <a:spAutoFit/>
          </a:bodyPr>
          <a:lstStyle/>
          <a:p>
            <a:pPr algn="ctr"/>
            <a:r>
              <a:rPr lang="tr-TR" b="1" dirty="0"/>
              <a:t>99. Dönem </a:t>
            </a:r>
          </a:p>
          <a:p>
            <a:pPr algn="ctr"/>
            <a:r>
              <a:rPr lang="tr-TR" b="1" dirty="0"/>
              <a:t>Esma Çelikten</a:t>
            </a:r>
          </a:p>
          <a:p>
            <a:pPr algn="ctr"/>
            <a:r>
              <a:rPr lang="tr-TR" b="1" dirty="0"/>
              <a:t>eeclktn@gmail.com</a:t>
            </a:r>
          </a:p>
        </p:txBody>
      </p:sp>
    </p:spTree>
    <p:extLst>
      <p:ext uri="{BB962C8B-B14F-4D97-AF65-F5344CB8AC3E}">
        <p14:creationId xmlns:p14="http://schemas.microsoft.com/office/powerpoint/2010/main" val="58919645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513786A-F5C2-F9E4-5F84-93572AF2E62C}"/>
              </a:ext>
            </a:extLst>
          </p:cNvPr>
          <p:cNvSpPr>
            <a:spLocks noGrp="1"/>
          </p:cNvSpPr>
          <p:nvPr>
            <p:ph type="title"/>
          </p:nvPr>
        </p:nvSpPr>
        <p:spPr>
          <a:xfrm>
            <a:off x="521208" y="978408"/>
            <a:ext cx="11155680" cy="761902"/>
          </a:xfrm>
        </p:spPr>
        <p:txBody>
          <a:bodyPr>
            <a:normAutofit fontScale="90000"/>
          </a:bodyPr>
          <a:lstStyle/>
          <a:p>
            <a:r>
              <a:rPr lang="tr-TR" dirty="0"/>
              <a:t>E-Ticaret Müşterisi Tekrar Satın Alır Mı?</a:t>
            </a:r>
          </a:p>
        </p:txBody>
      </p:sp>
      <p:sp>
        <p:nvSpPr>
          <p:cNvPr id="3" name="İçerik Yer Tutucusu 2">
            <a:extLst>
              <a:ext uri="{FF2B5EF4-FFF2-40B4-BE49-F238E27FC236}">
                <a16:creationId xmlns:a16="http://schemas.microsoft.com/office/drawing/2014/main" id="{15B67281-157D-EB57-B661-60E91B8DA958}"/>
              </a:ext>
            </a:extLst>
          </p:cNvPr>
          <p:cNvSpPr>
            <a:spLocks noGrp="1"/>
          </p:cNvSpPr>
          <p:nvPr>
            <p:ph idx="1"/>
          </p:nvPr>
        </p:nvSpPr>
        <p:spPr>
          <a:xfrm>
            <a:off x="521208" y="1818968"/>
            <a:ext cx="11155680" cy="4526968"/>
          </a:xfrm>
        </p:spPr>
        <p:txBody>
          <a:bodyPr/>
          <a:lstStyle/>
          <a:p>
            <a:pPr marL="0" indent="0">
              <a:buNone/>
            </a:pPr>
            <a:r>
              <a:rPr lang="tr-TR" sz="2000" b="1" dirty="0">
                <a:latin typeface="Abadi" panose="020F0502020204030204" pitchFamily="34" charset="-94"/>
              </a:rPr>
              <a:t>Problem:</a:t>
            </a:r>
          </a:p>
          <a:p>
            <a:pPr lvl="1"/>
            <a:r>
              <a:rPr lang="tr-TR" sz="1800" dirty="0">
                <a:latin typeface="Abadi" panose="020F0502020204030204" pitchFamily="34" charset="-94"/>
              </a:rPr>
              <a:t>Bir e-ticaret platformunda müşterilerin tekrar satın alma davranışını önceden tahmin etmek kritik bir iş problemidir.</a:t>
            </a:r>
          </a:p>
          <a:p>
            <a:pPr marL="0" indent="0">
              <a:buNone/>
            </a:pPr>
            <a:r>
              <a:rPr lang="tr-TR" sz="2000" b="1" dirty="0">
                <a:latin typeface="Abadi" panose="020F0502020204030204" pitchFamily="34" charset="-94"/>
              </a:rPr>
              <a:t>Yaklaşım:</a:t>
            </a:r>
            <a:endParaRPr lang="tr-TR" sz="2000" dirty="0">
              <a:latin typeface="Abadi" panose="020F0502020204030204" pitchFamily="34" charset="-94"/>
            </a:endParaRPr>
          </a:p>
          <a:p>
            <a:pPr lvl="1"/>
            <a:r>
              <a:rPr lang="tr-TR" sz="1800" dirty="0">
                <a:latin typeface="Abadi" panose="020F0502020204030204" pitchFamily="34" charset="-94"/>
              </a:rPr>
              <a:t>Müşteri demografisi, alışveriş geçmişi ve memnuniyet verilerini kullanarak makine öğrenmesi tabanlı ikili sınıflandırma modeli geliştirilmiştir.</a:t>
            </a:r>
          </a:p>
          <a:p>
            <a:pPr marL="0" indent="0">
              <a:buNone/>
            </a:pPr>
            <a:r>
              <a:rPr lang="tr-TR" sz="2000" b="1" dirty="0">
                <a:latin typeface="Abadi" panose="020F0502020204030204" pitchFamily="34" charset="-94"/>
              </a:rPr>
              <a:t>Neden Önemli:</a:t>
            </a:r>
            <a:endParaRPr lang="tr-TR" sz="2000" dirty="0">
              <a:latin typeface="Abadi" panose="020F0502020204030204" pitchFamily="34" charset="-94"/>
            </a:endParaRPr>
          </a:p>
          <a:p>
            <a:pPr lvl="1"/>
            <a:r>
              <a:rPr lang="tr-TR" altLang="tr-TR" sz="1800" dirty="0">
                <a:latin typeface="Abadi" panose="020F0502020204030204" pitchFamily="34" charset="-94"/>
              </a:rPr>
              <a:t>Tekrar müşteri kazanmak, yeni müşteri kazanmaktan 5 kat daha ucuzdur. </a:t>
            </a:r>
          </a:p>
          <a:p>
            <a:pPr lvl="1"/>
            <a:r>
              <a:rPr lang="tr-TR" altLang="tr-TR" sz="1800" dirty="0">
                <a:latin typeface="Abadi" panose="020F0502020204030204" pitchFamily="34" charset="-94"/>
              </a:rPr>
              <a:t>Doğru tahmin ile kişiselleştirilmiş kampanya yönetimi mümkün olur.</a:t>
            </a:r>
          </a:p>
          <a:p>
            <a:pPr lvl="1"/>
            <a:r>
              <a:rPr lang="tr-TR" altLang="tr-TR" sz="1800" dirty="0">
                <a:latin typeface="Abadi" panose="020F0502020204030204" pitchFamily="34" charset="-94"/>
              </a:rPr>
              <a:t>Müşteri kaybı önceden tespit edilerek önlem alınabilir.</a:t>
            </a:r>
            <a:endParaRPr lang="tr-TR" sz="1800" dirty="0">
              <a:latin typeface="Abadi" panose="020F0502020204030204" pitchFamily="34" charset="-94"/>
            </a:endParaRPr>
          </a:p>
          <a:p>
            <a:pPr marL="0" indent="0">
              <a:buNone/>
            </a:pPr>
            <a:endParaRPr lang="tr-TR" sz="2000" dirty="0">
              <a:latin typeface="Abadi" panose="020F0502020204030204" pitchFamily="34" charset="-94"/>
            </a:endParaRPr>
          </a:p>
          <a:p>
            <a:endParaRPr lang="tr-TR" dirty="0">
              <a:latin typeface="Abadi" panose="020F0502020204030204" pitchFamily="34" charset="-94"/>
            </a:endParaRPr>
          </a:p>
        </p:txBody>
      </p:sp>
    </p:spTree>
    <p:extLst>
      <p:ext uri="{BB962C8B-B14F-4D97-AF65-F5344CB8AC3E}">
        <p14:creationId xmlns:p14="http://schemas.microsoft.com/office/powerpoint/2010/main" val="1567668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1B5B0EE-5FAA-6DFE-108D-E5DF4850BA1E}"/>
              </a:ext>
            </a:extLst>
          </p:cNvPr>
          <p:cNvSpPr>
            <a:spLocks noGrp="1"/>
          </p:cNvSpPr>
          <p:nvPr>
            <p:ph idx="1"/>
          </p:nvPr>
        </p:nvSpPr>
        <p:spPr>
          <a:xfrm>
            <a:off x="521208" y="737937"/>
            <a:ext cx="11155680" cy="6120063"/>
          </a:xfrm>
        </p:spPr>
        <p:txBody>
          <a:bodyPr>
            <a:normAutofit fontScale="70000" lnSpcReduction="20000"/>
          </a:bodyPr>
          <a:lstStyle/>
          <a:p>
            <a:pPr marL="0" indent="0">
              <a:buNone/>
            </a:pPr>
            <a:r>
              <a:rPr lang="tr-TR" sz="2600" b="1" dirty="0"/>
              <a:t>Veri Kaynağı: </a:t>
            </a:r>
            <a:r>
              <a:rPr lang="tr-TR" sz="2600" dirty="0"/>
              <a:t>Gerçekçi bir e-ticaret senaryosunu yansıtmak amacıyla Python ile sentetik veri seti oluşturulmuştur (</a:t>
            </a:r>
            <a:r>
              <a:rPr lang="tr-TR" sz="2600" dirty="0" err="1"/>
              <a:t>NumPy</a:t>
            </a:r>
            <a:r>
              <a:rPr lang="tr-TR" sz="2600" dirty="0"/>
              <a:t>, </a:t>
            </a:r>
            <a:r>
              <a:rPr lang="tr-TR" sz="2600" dirty="0" err="1"/>
              <a:t>Pandas,Random</a:t>
            </a:r>
            <a:r>
              <a:rPr lang="tr-TR" sz="2600" dirty="0"/>
              <a:t>). Toplam 1000 müşteri kaydı ve 12 değişken analiz edilmiştir.</a:t>
            </a:r>
          </a:p>
          <a:p>
            <a:pPr marL="0" indent="0">
              <a:buNone/>
            </a:pPr>
            <a:r>
              <a:rPr lang="tr-TR" sz="2600" b="1" dirty="0"/>
              <a:t>Neden Sentetik Veri?:  </a:t>
            </a:r>
            <a:r>
              <a:rPr lang="tr-TR" sz="2600" dirty="0"/>
              <a:t>Gerçek e-ticaret verilerine erişim kısıtlıdır; erişime açık veri setleri ilk aşamada anlama ve temizleme süreçleri açısından çok daha zorlayıcıdır. Sentetik veri, metodolojiye odaklanmayı kolaylaştırarak proje için daha uygun bir başlangıç oluşturmaktadır. Model gerçek dünya verisiyle yeniden eğitilmeye hazır konumdadır.</a:t>
            </a:r>
            <a:endParaRPr lang="tr-TR" dirty="0"/>
          </a:p>
          <a:p>
            <a:pPr marL="0" indent="0">
              <a:buNone/>
            </a:pPr>
            <a:r>
              <a:rPr lang="tr-TR" sz="2100" b="1" dirty="0"/>
              <a:t>12 Değişken</a:t>
            </a:r>
          </a:p>
          <a:p>
            <a:pPr lvl="1"/>
            <a:r>
              <a:rPr lang="tr-TR" sz="2100" dirty="0"/>
              <a:t>Yaş</a:t>
            </a:r>
          </a:p>
          <a:p>
            <a:pPr lvl="1"/>
            <a:r>
              <a:rPr lang="tr-TR" sz="2100" dirty="0"/>
              <a:t>Cinsiyet</a:t>
            </a:r>
          </a:p>
          <a:p>
            <a:pPr lvl="1"/>
            <a:r>
              <a:rPr lang="tr-TR" sz="2100" dirty="0"/>
              <a:t>Şehir</a:t>
            </a:r>
          </a:p>
          <a:p>
            <a:pPr lvl="1"/>
            <a:r>
              <a:rPr lang="tr-TR" sz="2100" dirty="0"/>
              <a:t>Kategori ( Satın alınan ürünün ana başlığı)</a:t>
            </a:r>
          </a:p>
          <a:p>
            <a:pPr lvl="1"/>
            <a:r>
              <a:rPr lang="tr-TR" sz="2100" dirty="0"/>
              <a:t>Ödeme Yöntemi</a:t>
            </a:r>
          </a:p>
          <a:p>
            <a:pPr lvl="1"/>
            <a:r>
              <a:rPr lang="tr-TR" sz="2100" dirty="0"/>
              <a:t>Üyelik süresi                                                                                  </a:t>
            </a:r>
            <a:r>
              <a:rPr lang="tr-TR" sz="2100" dirty="0">
                <a:solidFill>
                  <a:srgbClr val="FFC000"/>
                </a:solidFill>
              </a:rPr>
              <a:t>Girdi Değişkenleri</a:t>
            </a:r>
          </a:p>
          <a:p>
            <a:pPr lvl="1"/>
            <a:r>
              <a:rPr lang="tr-TR" sz="2100" dirty="0"/>
              <a:t>Önceki satın alma</a:t>
            </a:r>
          </a:p>
          <a:p>
            <a:pPr lvl="1"/>
            <a:r>
              <a:rPr lang="tr-TR" sz="2100" dirty="0"/>
              <a:t>İndirim oranı</a:t>
            </a:r>
          </a:p>
          <a:p>
            <a:pPr lvl="1"/>
            <a:r>
              <a:rPr lang="tr-TR" sz="2100" dirty="0"/>
              <a:t>Fiyat</a:t>
            </a:r>
          </a:p>
          <a:p>
            <a:pPr lvl="1"/>
            <a:r>
              <a:rPr lang="tr-TR" sz="2100" dirty="0"/>
              <a:t>İade sayısı</a:t>
            </a:r>
          </a:p>
          <a:p>
            <a:pPr lvl="1"/>
            <a:r>
              <a:rPr lang="tr-TR" sz="2100" dirty="0"/>
              <a:t>Müşteri skoru</a:t>
            </a:r>
          </a:p>
          <a:p>
            <a:pPr marL="457200" lvl="1" indent="0">
              <a:buNone/>
            </a:pPr>
            <a:endParaRPr lang="tr-TR" sz="2100" dirty="0"/>
          </a:p>
          <a:p>
            <a:pPr lvl="1"/>
            <a:r>
              <a:rPr lang="tr-TR" sz="2100" dirty="0"/>
              <a:t>Tekrar satın alma (0 = Hayır , 1= Evet)                                 </a:t>
            </a:r>
            <a:r>
              <a:rPr lang="tr-TR" sz="2100" dirty="0">
                <a:solidFill>
                  <a:srgbClr val="92D050"/>
                </a:solidFill>
              </a:rPr>
              <a:t> Çıktı Değişkeni</a:t>
            </a:r>
          </a:p>
        </p:txBody>
      </p:sp>
      <p:sp>
        <p:nvSpPr>
          <p:cNvPr id="9" name="Sağ Ayraç 8">
            <a:extLst>
              <a:ext uri="{FF2B5EF4-FFF2-40B4-BE49-F238E27FC236}">
                <a16:creationId xmlns:a16="http://schemas.microsoft.com/office/drawing/2014/main" id="{230663E6-1651-CA1A-9038-8F1B3E1E1743}"/>
              </a:ext>
            </a:extLst>
          </p:cNvPr>
          <p:cNvSpPr/>
          <p:nvPr/>
        </p:nvSpPr>
        <p:spPr>
          <a:xfrm rot="10800000" flipH="1">
            <a:off x="4473677" y="2791324"/>
            <a:ext cx="756049" cy="2951749"/>
          </a:xfrm>
          <a:prstGeom prst="rightBrace">
            <a:avLst>
              <a:gd name="adj1" fmla="val 8333"/>
              <a:gd name="adj2" fmla="val 50279"/>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tr-TR"/>
          </a:p>
        </p:txBody>
      </p:sp>
      <p:sp>
        <p:nvSpPr>
          <p:cNvPr id="10" name="Sol Ayraç 9">
            <a:extLst>
              <a:ext uri="{FF2B5EF4-FFF2-40B4-BE49-F238E27FC236}">
                <a16:creationId xmlns:a16="http://schemas.microsoft.com/office/drawing/2014/main" id="{D3F62706-35B5-BBC5-1900-F922DD4FF807}"/>
              </a:ext>
            </a:extLst>
          </p:cNvPr>
          <p:cNvSpPr/>
          <p:nvPr/>
        </p:nvSpPr>
        <p:spPr>
          <a:xfrm rot="10800000">
            <a:off x="4766315" y="5886743"/>
            <a:ext cx="253052" cy="466640"/>
          </a:xfrm>
          <a:prstGeom prst="leftBrace">
            <a:avLst/>
          </a:prstGeom>
        </p:spPr>
        <p:style>
          <a:lnRef idx="1">
            <a:schemeClr val="accent6"/>
          </a:lnRef>
          <a:fillRef idx="0">
            <a:schemeClr val="accent6"/>
          </a:fillRef>
          <a:effectRef idx="0">
            <a:schemeClr val="accent6"/>
          </a:effectRef>
          <a:fontRef idx="minor">
            <a:schemeClr val="tx1"/>
          </a:fontRef>
        </p:style>
        <p:txBody>
          <a:bodyPr rtlCol="0" anchor="ctr"/>
          <a:lstStyle/>
          <a:p>
            <a:pPr algn="ctr"/>
            <a:endParaRPr lang="tr-TR"/>
          </a:p>
        </p:txBody>
      </p:sp>
    </p:spTree>
    <p:extLst>
      <p:ext uri="{BB962C8B-B14F-4D97-AF65-F5344CB8AC3E}">
        <p14:creationId xmlns:p14="http://schemas.microsoft.com/office/powerpoint/2010/main" val="781055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8FF1CB0-EE4F-650F-B27A-1272B6B14632}"/>
              </a:ext>
            </a:extLst>
          </p:cNvPr>
          <p:cNvSpPr>
            <a:spLocks noGrp="1"/>
          </p:cNvSpPr>
          <p:nvPr>
            <p:ph type="title"/>
          </p:nvPr>
        </p:nvSpPr>
        <p:spPr>
          <a:xfrm>
            <a:off x="518160" y="830925"/>
            <a:ext cx="11155680" cy="696424"/>
          </a:xfrm>
        </p:spPr>
        <p:txBody>
          <a:bodyPr>
            <a:normAutofit fontScale="90000"/>
          </a:bodyPr>
          <a:lstStyle/>
          <a:p>
            <a:r>
              <a:rPr lang="tr-TR" sz="2200" b="0" dirty="0"/>
              <a:t>Kategori dağılımı grafiği; </a:t>
            </a:r>
            <a:br>
              <a:rPr lang="tr-TR" sz="2200" b="0" dirty="0"/>
            </a:br>
            <a:r>
              <a:rPr lang="tr-TR" sz="2200" b="0" dirty="0"/>
              <a:t>Giyim ve Elektronik kategorisinden yapılan satış oranları daha yüksektir.</a:t>
            </a:r>
            <a:br>
              <a:rPr lang="tr-TR" dirty="0"/>
            </a:br>
            <a:endParaRPr lang="tr-TR" dirty="0"/>
          </a:p>
        </p:txBody>
      </p:sp>
      <p:pic>
        <p:nvPicPr>
          <p:cNvPr id="4" name="Resim 3">
            <a:extLst>
              <a:ext uri="{FF2B5EF4-FFF2-40B4-BE49-F238E27FC236}">
                <a16:creationId xmlns:a16="http://schemas.microsoft.com/office/drawing/2014/main" id="{302C0367-9FC6-557D-9CC7-6C6F5C4D978A}"/>
              </a:ext>
            </a:extLst>
          </p:cNvPr>
          <p:cNvPicPr>
            <a:picLocks noChangeAspect="1"/>
          </p:cNvPicPr>
          <p:nvPr/>
        </p:nvPicPr>
        <p:blipFill>
          <a:blip r:embed="rId2"/>
          <a:stretch>
            <a:fillRect/>
          </a:stretch>
        </p:blipFill>
        <p:spPr>
          <a:xfrm>
            <a:off x="542159" y="1652419"/>
            <a:ext cx="11107682" cy="4566641"/>
          </a:xfrm>
          <a:prstGeom prst="rect">
            <a:avLst/>
          </a:prstGeom>
        </p:spPr>
      </p:pic>
    </p:spTree>
    <p:extLst>
      <p:ext uri="{BB962C8B-B14F-4D97-AF65-F5344CB8AC3E}">
        <p14:creationId xmlns:p14="http://schemas.microsoft.com/office/powerpoint/2010/main" val="13011023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8F5940C9-F80B-0144-857A-2898503CDEAB}"/>
              </a:ext>
            </a:extLst>
          </p:cNvPr>
          <p:cNvPicPr>
            <a:picLocks noChangeAspect="1"/>
          </p:cNvPicPr>
          <p:nvPr/>
        </p:nvPicPr>
        <p:blipFill>
          <a:blip r:embed="rId2"/>
          <a:srcRect r="1231"/>
          <a:stretch>
            <a:fillRect/>
          </a:stretch>
        </p:blipFill>
        <p:spPr>
          <a:xfrm>
            <a:off x="822298" y="1635503"/>
            <a:ext cx="10258657" cy="5002989"/>
          </a:xfrm>
          <a:prstGeom prst="rect">
            <a:avLst/>
          </a:prstGeom>
        </p:spPr>
      </p:pic>
      <p:sp>
        <p:nvSpPr>
          <p:cNvPr id="6" name="Başlık 1">
            <a:extLst>
              <a:ext uri="{FF2B5EF4-FFF2-40B4-BE49-F238E27FC236}">
                <a16:creationId xmlns:a16="http://schemas.microsoft.com/office/drawing/2014/main" id="{C2F58430-5368-91E4-EB8B-C049F0743709}"/>
              </a:ext>
            </a:extLst>
          </p:cNvPr>
          <p:cNvSpPr>
            <a:spLocks noGrp="1"/>
          </p:cNvSpPr>
          <p:nvPr>
            <p:ph type="title"/>
          </p:nvPr>
        </p:nvSpPr>
        <p:spPr>
          <a:xfrm>
            <a:off x="518160" y="830925"/>
            <a:ext cx="11155680" cy="696424"/>
          </a:xfrm>
        </p:spPr>
        <p:txBody>
          <a:bodyPr>
            <a:normAutofit fontScale="90000"/>
          </a:bodyPr>
          <a:lstStyle/>
          <a:p>
            <a:r>
              <a:rPr lang="tr-TR" sz="2200" b="0" dirty="0"/>
              <a:t>Ödeme yöntemi dağılımı grafiği; </a:t>
            </a:r>
            <a:br>
              <a:rPr lang="tr-TR" sz="2200" b="0" dirty="0"/>
            </a:br>
            <a:r>
              <a:rPr lang="tr-TR" sz="2200" b="0" dirty="0"/>
              <a:t>Kredi kartı ile yapılan ödeme sayısı diğerlerine oranla daha fazladır.</a:t>
            </a:r>
            <a:br>
              <a:rPr lang="tr-TR" dirty="0"/>
            </a:br>
            <a:endParaRPr lang="tr-TR" dirty="0"/>
          </a:p>
        </p:txBody>
      </p:sp>
    </p:spTree>
    <p:extLst>
      <p:ext uri="{BB962C8B-B14F-4D97-AF65-F5344CB8AC3E}">
        <p14:creationId xmlns:p14="http://schemas.microsoft.com/office/powerpoint/2010/main" val="1858741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Başlık 1">
            <a:extLst>
              <a:ext uri="{FF2B5EF4-FFF2-40B4-BE49-F238E27FC236}">
                <a16:creationId xmlns:a16="http://schemas.microsoft.com/office/drawing/2014/main" id="{A74927E5-524D-5E1F-B9AB-D5A468D4A862}"/>
              </a:ext>
            </a:extLst>
          </p:cNvPr>
          <p:cNvSpPr>
            <a:spLocks noGrp="1"/>
          </p:cNvSpPr>
          <p:nvPr>
            <p:ph type="title"/>
          </p:nvPr>
        </p:nvSpPr>
        <p:spPr>
          <a:xfrm>
            <a:off x="518160" y="830925"/>
            <a:ext cx="11155680" cy="696424"/>
          </a:xfrm>
        </p:spPr>
        <p:txBody>
          <a:bodyPr>
            <a:normAutofit fontScale="90000"/>
          </a:bodyPr>
          <a:lstStyle/>
          <a:p>
            <a:r>
              <a:rPr lang="tr-TR" sz="2200" b="0" dirty="0"/>
              <a:t>Müşteri yaş dağılımı grafiği; </a:t>
            </a:r>
            <a:br>
              <a:rPr lang="tr-TR" sz="2200" b="0" dirty="0"/>
            </a:br>
            <a:r>
              <a:rPr lang="tr-TR" sz="2200" b="0" dirty="0"/>
              <a:t>15-85 yaş arasında değişen müşteri dağılımı görülmektedir.</a:t>
            </a:r>
            <a:br>
              <a:rPr lang="tr-TR" sz="2200" b="0" dirty="0"/>
            </a:br>
            <a:endParaRPr lang="tr-TR" dirty="0"/>
          </a:p>
        </p:txBody>
      </p:sp>
      <p:pic>
        <p:nvPicPr>
          <p:cNvPr id="8" name="Resim 7">
            <a:extLst>
              <a:ext uri="{FF2B5EF4-FFF2-40B4-BE49-F238E27FC236}">
                <a16:creationId xmlns:a16="http://schemas.microsoft.com/office/drawing/2014/main" id="{4F7A85DC-E1CB-BA50-B485-51C71403FB3A}"/>
              </a:ext>
            </a:extLst>
          </p:cNvPr>
          <p:cNvPicPr>
            <a:picLocks noChangeAspect="1"/>
          </p:cNvPicPr>
          <p:nvPr/>
        </p:nvPicPr>
        <p:blipFill>
          <a:blip r:embed="rId2"/>
          <a:stretch>
            <a:fillRect/>
          </a:stretch>
        </p:blipFill>
        <p:spPr>
          <a:xfrm>
            <a:off x="2191565" y="1761925"/>
            <a:ext cx="6941180" cy="4343908"/>
          </a:xfrm>
          <a:prstGeom prst="rect">
            <a:avLst/>
          </a:prstGeom>
        </p:spPr>
      </p:pic>
    </p:spTree>
    <p:extLst>
      <p:ext uri="{BB962C8B-B14F-4D97-AF65-F5344CB8AC3E}">
        <p14:creationId xmlns:p14="http://schemas.microsoft.com/office/powerpoint/2010/main" val="3243771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2BAB5834-F1B4-A5E4-9431-0688765FE2F9}"/>
              </a:ext>
            </a:extLst>
          </p:cNvPr>
          <p:cNvPicPr>
            <a:picLocks noChangeAspect="1"/>
          </p:cNvPicPr>
          <p:nvPr/>
        </p:nvPicPr>
        <p:blipFill>
          <a:blip r:embed="rId2"/>
          <a:stretch>
            <a:fillRect/>
          </a:stretch>
        </p:blipFill>
        <p:spPr>
          <a:xfrm>
            <a:off x="1787148" y="1604502"/>
            <a:ext cx="7789472" cy="4959255"/>
          </a:xfrm>
          <a:prstGeom prst="rect">
            <a:avLst/>
          </a:prstGeom>
        </p:spPr>
      </p:pic>
      <p:sp>
        <p:nvSpPr>
          <p:cNvPr id="6" name="Başlık 1">
            <a:extLst>
              <a:ext uri="{FF2B5EF4-FFF2-40B4-BE49-F238E27FC236}">
                <a16:creationId xmlns:a16="http://schemas.microsoft.com/office/drawing/2014/main" id="{FE590D54-6BF4-3870-D98C-C5767CE58E3E}"/>
              </a:ext>
            </a:extLst>
          </p:cNvPr>
          <p:cNvSpPr>
            <a:spLocks noGrp="1"/>
          </p:cNvSpPr>
          <p:nvPr>
            <p:ph type="title"/>
          </p:nvPr>
        </p:nvSpPr>
        <p:spPr>
          <a:xfrm>
            <a:off x="518160" y="830925"/>
            <a:ext cx="11155680" cy="696424"/>
          </a:xfrm>
        </p:spPr>
        <p:txBody>
          <a:bodyPr>
            <a:normAutofit fontScale="90000"/>
          </a:bodyPr>
          <a:lstStyle/>
          <a:p>
            <a:r>
              <a:rPr lang="tr-TR" sz="2200" b="0" dirty="0"/>
              <a:t>Tekrar satın alma dağılımı grafiği; </a:t>
            </a:r>
            <a:br>
              <a:rPr lang="tr-TR" sz="2200" b="0" dirty="0"/>
            </a:br>
            <a:r>
              <a:rPr lang="tr-TR" sz="2200" b="0" dirty="0"/>
              <a:t>Müşterilerin %40'ı tekrar satın alma yapmıştır. </a:t>
            </a:r>
          </a:p>
        </p:txBody>
      </p:sp>
    </p:spTree>
    <p:extLst>
      <p:ext uri="{BB962C8B-B14F-4D97-AF65-F5344CB8AC3E}">
        <p14:creationId xmlns:p14="http://schemas.microsoft.com/office/powerpoint/2010/main" val="33031016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Başlık 1">
            <a:extLst>
              <a:ext uri="{FF2B5EF4-FFF2-40B4-BE49-F238E27FC236}">
                <a16:creationId xmlns:a16="http://schemas.microsoft.com/office/drawing/2014/main" id="{E2B6BC8E-0FFD-DD7D-B5D8-91EEB6607226}"/>
              </a:ext>
            </a:extLst>
          </p:cNvPr>
          <p:cNvSpPr>
            <a:spLocks noGrp="1"/>
          </p:cNvSpPr>
          <p:nvPr>
            <p:ph type="title"/>
          </p:nvPr>
        </p:nvSpPr>
        <p:spPr>
          <a:xfrm>
            <a:off x="518160" y="830925"/>
            <a:ext cx="11155680" cy="696424"/>
          </a:xfrm>
        </p:spPr>
        <p:txBody>
          <a:bodyPr>
            <a:normAutofit fontScale="90000"/>
          </a:bodyPr>
          <a:lstStyle/>
          <a:p>
            <a:r>
              <a:rPr lang="tr-TR" sz="2200" b="0" dirty="0"/>
              <a:t>Korelasyon Matris Grafiği; </a:t>
            </a:r>
            <a:br>
              <a:rPr lang="tr-TR" sz="2200" b="0" dirty="0"/>
            </a:br>
            <a:r>
              <a:rPr lang="tr-TR" sz="2200" b="0" dirty="0"/>
              <a:t>Korelasyon analizine göre tekrar satın almayı en çok etkileyen faktörler üyelik süresi, indirim oranı ve önceki satın alma sayısıdır. İade sayısı tek negatif etkili değişken olarak öne çıkmaktadır.</a:t>
            </a:r>
          </a:p>
        </p:txBody>
      </p:sp>
      <p:pic>
        <p:nvPicPr>
          <p:cNvPr id="8" name="Resim 7">
            <a:extLst>
              <a:ext uri="{FF2B5EF4-FFF2-40B4-BE49-F238E27FC236}">
                <a16:creationId xmlns:a16="http://schemas.microsoft.com/office/drawing/2014/main" id="{40DCCA2B-38C2-22E0-D849-50D004AD4051}"/>
              </a:ext>
            </a:extLst>
          </p:cNvPr>
          <p:cNvPicPr>
            <a:picLocks noChangeAspect="1"/>
          </p:cNvPicPr>
          <p:nvPr/>
        </p:nvPicPr>
        <p:blipFill>
          <a:blip r:embed="rId2"/>
          <a:stretch>
            <a:fillRect/>
          </a:stretch>
        </p:blipFill>
        <p:spPr>
          <a:xfrm>
            <a:off x="1955033" y="1882854"/>
            <a:ext cx="6935168" cy="4744112"/>
          </a:xfrm>
          <a:prstGeom prst="rect">
            <a:avLst/>
          </a:prstGeom>
        </p:spPr>
      </p:pic>
    </p:spTree>
    <p:extLst>
      <p:ext uri="{BB962C8B-B14F-4D97-AF65-F5344CB8AC3E}">
        <p14:creationId xmlns:p14="http://schemas.microsoft.com/office/powerpoint/2010/main" val="2633464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EE597E8C-0ABB-B447-0674-71B6489E436F}"/>
              </a:ext>
            </a:extLst>
          </p:cNvPr>
          <p:cNvPicPr>
            <a:picLocks noGrp="1" noChangeAspect="1"/>
          </p:cNvPicPr>
          <p:nvPr>
            <p:ph idx="1"/>
          </p:nvPr>
        </p:nvPicPr>
        <p:blipFill>
          <a:blip r:embed="rId2"/>
          <a:stretch>
            <a:fillRect/>
          </a:stretch>
        </p:blipFill>
        <p:spPr>
          <a:xfrm>
            <a:off x="1799964" y="1909506"/>
            <a:ext cx="8009878" cy="4776429"/>
          </a:xfrm>
          <a:prstGeom prst="rect">
            <a:avLst/>
          </a:prstGeom>
        </p:spPr>
      </p:pic>
      <p:sp>
        <p:nvSpPr>
          <p:cNvPr id="6" name="Başlık 1">
            <a:extLst>
              <a:ext uri="{FF2B5EF4-FFF2-40B4-BE49-F238E27FC236}">
                <a16:creationId xmlns:a16="http://schemas.microsoft.com/office/drawing/2014/main" id="{4BB21A97-39C7-00EC-A4DB-578878E8BE61}"/>
              </a:ext>
            </a:extLst>
          </p:cNvPr>
          <p:cNvSpPr>
            <a:spLocks noGrp="1"/>
          </p:cNvSpPr>
          <p:nvPr>
            <p:ph type="title"/>
          </p:nvPr>
        </p:nvSpPr>
        <p:spPr>
          <a:xfrm>
            <a:off x="518160" y="830925"/>
            <a:ext cx="11155680" cy="696424"/>
          </a:xfrm>
        </p:spPr>
        <p:txBody>
          <a:bodyPr>
            <a:normAutofit fontScale="90000"/>
          </a:bodyPr>
          <a:lstStyle/>
          <a:p>
            <a:r>
              <a:rPr lang="tr-TR" sz="2200" b="0" dirty="0"/>
              <a:t>Müşteri Skoru Grafiği; </a:t>
            </a:r>
            <a:br>
              <a:rPr lang="tr-TR" sz="2200" b="0" dirty="0"/>
            </a:br>
            <a:r>
              <a:rPr lang="tr-TR" sz="2200" b="0"/>
              <a:t>Müşteri memnuniyet skoru arttıkça tekrar satın alma oranının da arttığı gözlemlenmiştir. Skor 1 olan müşterilerde tekrar alım düşükken, skor 4 olan müşterilerde belirgin şekilde yükselmektedir.</a:t>
            </a:r>
          </a:p>
        </p:txBody>
      </p:sp>
    </p:spTree>
    <p:extLst>
      <p:ext uri="{BB962C8B-B14F-4D97-AF65-F5344CB8AC3E}">
        <p14:creationId xmlns:p14="http://schemas.microsoft.com/office/powerpoint/2010/main" val="2631024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07A8364-00CB-A2DE-D75C-13FB3BC28412}"/>
              </a:ext>
            </a:extLst>
          </p:cNvPr>
          <p:cNvSpPr>
            <a:spLocks noGrp="1"/>
          </p:cNvSpPr>
          <p:nvPr>
            <p:ph type="title"/>
          </p:nvPr>
        </p:nvSpPr>
        <p:spPr>
          <a:xfrm>
            <a:off x="518160" y="826647"/>
            <a:ext cx="11155680" cy="486598"/>
          </a:xfrm>
        </p:spPr>
        <p:txBody>
          <a:bodyPr>
            <a:noAutofit/>
          </a:bodyPr>
          <a:lstStyle/>
          <a:p>
            <a:r>
              <a:rPr lang="tr-TR" sz="3200" dirty="0"/>
              <a:t>Veri Temizleme</a:t>
            </a:r>
          </a:p>
        </p:txBody>
      </p:sp>
      <p:sp>
        <p:nvSpPr>
          <p:cNvPr id="3" name="İçerik Yer Tutucusu 2">
            <a:extLst>
              <a:ext uri="{FF2B5EF4-FFF2-40B4-BE49-F238E27FC236}">
                <a16:creationId xmlns:a16="http://schemas.microsoft.com/office/drawing/2014/main" id="{C6ED2A94-BD14-6527-F39A-D4CAF9DBAC35}"/>
              </a:ext>
            </a:extLst>
          </p:cNvPr>
          <p:cNvSpPr>
            <a:spLocks noGrp="1"/>
          </p:cNvSpPr>
          <p:nvPr>
            <p:ph idx="1"/>
          </p:nvPr>
        </p:nvSpPr>
        <p:spPr>
          <a:xfrm>
            <a:off x="518160" y="1556544"/>
            <a:ext cx="11155680" cy="3767328"/>
          </a:xfrm>
        </p:spPr>
        <p:txBody>
          <a:bodyPr/>
          <a:lstStyle/>
          <a:p>
            <a:pPr marL="0" indent="0">
              <a:buNone/>
            </a:pPr>
            <a:r>
              <a:rPr lang="tr-TR" dirty="0"/>
              <a:t>Yaş dağılımı incelendiğinde 15-17 yaş arası reşit olmayan ve 71-84 yaş arası e-ticaret kullanımı düşük müşteriler tespit edilmiştir. Bu değerler veri temizleme adımında ele alınmıştır. Veriyi daha gerçekçi kılmak adına yaş aralığı 18-70 olarak tutulmuştur. </a:t>
            </a:r>
          </a:p>
          <a:p>
            <a:pPr marL="0" indent="0">
              <a:buNone/>
            </a:pPr>
            <a:r>
              <a:rPr lang="tr-TR" sz="1400" dirty="0"/>
              <a:t>*259 kayıt çıkarıldı → 1000 kayıttan 741 </a:t>
            </a:r>
            <a:r>
              <a:rPr lang="tr-TR" sz="1400" dirty="0" err="1"/>
              <a:t>kayıda</a:t>
            </a:r>
            <a:r>
              <a:rPr lang="tr-TR" sz="1400" dirty="0"/>
              <a:t> düşüldü.</a:t>
            </a:r>
            <a:endParaRPr lang="tr-TR" dirty="0"/>
          </a:p>
        </p:txBody>
      </p:sp>
      <p:pic>
        <p:nvPicPr>
          <p:cNvPr id="5" name="Resim 4">
            <a:extLst>
              <a:ext uri="{FF2B5EF4-FFF2-40B4-BE49-F238E27FC236}">
                <a16:creationId xmlns:a16="http://schemas.microsoft.com/office/drawing/2014/main" id="{2FE28B26-77A6-B468-0314-B545F30E0075}"/>
              </a:ext>
            </a:extLst>
          </p:cNvPr>
          <p:cNvPicPr>
            <a:picLocks noChangeAspect="1"/>
          </p:cNvPicPr>
          <p:nvPr/>
        </p:nvPicPr>
        <p:blipFill>
          <a:blip r:embed="rId2"/>
          <a:stretch>
            <a:fillRect/>
          </a:stretch>
        </p:blipFill>
        <p:spPr>
          <a:xfrm>
            <a:off x="6096000" y="3073600"/>
            <a:ext cx="4588778" cy="2957753"/>
          </a:xfrm>
          <a:prstGeom prst="rect">
            <a:avLst/>
          </a:prstGeom>
        </p:spPr>
      </p:pic>
      <p:pic>
        <p:nvPicPr>
          <p:cNvPr id="6" name="Resim 5">
            <a:extLst>
              <a:ext uri="{FF2B5EF4-FFF2-40B4-BE49-F238E27FC236}">
                <a16:creationId xmlns:a16="http://schemas.microsoft.com/office/drawing/2014/main" id="{DDB4188E-99C7-374D-7A37-35005991A49B}"/>
              </a:ext>
            </a:extLst>
          </p:cNvPr>
          <p:cNvPicPr>
            <a:picLocks noChangeAspect="1"/>
          </p:cNvPicPr>
          <p:nvPr/>
        </p:nvPicPr>
        <p:blipFill>
          <a:blip r:embed="rId3"/>
          <a:stretch>
            <a:fillRect/>
          </a:stretch>
        </p:blipFill>
        <p:spPr>
          <a:xfrm>
            <a:off x="610424" y="3068081"/>
            <a:ext cx="4588777" cy="2871734"/>
          </a:xfrm>
          <a:prstGeom prst="rect">
            <a:avLst/>
          </a:prstGeom>
        </p:spPr>
      </p:pic>
      <p:sp>
        <p:nvSpPr>
          <p:cNvPr id="7" name="Metin kutusu 6">
            <a:extLst>
              <a:ext uri="{FF2B5EF4-FFF2-40B4-BE49-F238E27FC236}">
                <a16:creationId xmlns:a16="http://schemas.microsoft.com/office/drawing/2014/main" id="{3683DE10-E577-89AE-F63B-E69F08DC54EB}"/>
              </a:ext>
            </a:extLst>
          </p:cNvPr>
          <p:cNvSpPr txBox="1"/>
          <p:nvPr/>
        </p:nvSpPr>
        <p:spPr>
          <a:xfrm>
            <a:off x="1908464" y="5939815"/>
            <a:ext cx="8375072" cy="369332"/>
          </a:xfrm>
          <a:prstGeom prst="rect">
            <a:avLst/>
          </a:prstGeom>
          <a:noFill/>
        </p:spPr>
        <p:txBody>
          <a:bodyPr wrap="square" rtlCol="0">
            <a:spAutoFit/>
          </a:bodyPr>
          <a:lstStyle/>
          <a:p>
            <a:r>
              <a:rPr lang="tr-TR" dirty="0"/>
              <a:t>Temizleme Öncesi                                                                   Temizleme Sonrası</a:t>
            </a:r>
          </a:p>
        </p:txBody>
      </p:sp>
    </p:spTree>
    <p:extLst>
      <p:ext uri="{BB962C8B-B14F-4D97-AF65-F5344CB8AC3E}">
        <p14:creationId xmlns:p14="http://schemas.microsoft.com/office/powerpoint/2010/main" val="3201470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0A6FB56-4160-09E9-375D-DC055C7B7282}"/>
              </a:ext>
            </a:extLst>
          </p:cNvPr>
          <p:cNvSpPr>
            <a:spLocks noGrp="1"/>
          </p:cNvSpPr>
          <p:nvPr>
            <p:ph type="title"/>
          </p:nvPr>
        </p:nvSpPr>
        <p:spPr>
          <a:xfrm>
            <a:off x="521208" y="978408"/>
            <a:ext cx="11155680" cy="517883"/>
          </a:xfrm>
        </p:spPr>
        <p:txBody>
          <a:bodyPr>
            <a:normAutofit fontScale="90000"/>
          </a:bodyPr>
          <a:lstStyle/>
          <a:p>
            <a:r>
              <a:rPr lang="tr-TR" sz="3200" dirty="0"/>
              <a:t>Veri Temizleme – Aykırı Değer</a:t>
            </a:r>
          </a:p>
        </p:txBody>
      </p:sp>
      <p:sp>
        <p:nvSpPr>
          <p:cNvPr id="3" name="İçerik Yer Tutucusu 2">
            <a:extLst>
              <a:ext uri="{FF2B5EF4-FFF2-40B4-BE49-F238E27FC236}">
                <a16:creationId xmlns:a16="http://schemas.microsoft.com/office/drawing/2014/main" id="{A2A10692-3713-408C-2919-0CB8690FF7CF}"/>
              </a:ext>
            </a:extLst>
          </p:cNvPr>
          <p:cNvSpPr>
            <a:spLocks noGrp="1"/>
          </p:cNvSpPr>
          <p:nvPr>
            <p:ph idx="1"/>
          </p:nvPr>
        </p:nvSpPr>
        <p:spPr>
          <a:xfrm>
            <a:off x="521208" y="1683327"/>
            <a:ext cx="11155680" cy="4662609"/>
          </a:xfrm>
        </p:spPr>
        <p:txBody>
          <a:bodyPr/>
          <a:lstStyle/>
          <a:p>
            <a:pPr marL="0" indent="0">
              <a:buNone/>
            </a:pPr>
            <a:r>
              <a:rPr lang="tr-TR" dirty="0"/>
              <a:t>Fiyat sütununda IQR yöntemiyle 37 aykırı değer tespit edilmiştir. Bu değerlerin Otomobil ve Beyaz Eşya kategorilerinden kaynaklandığı görülmüş, veri girişi hatası olmadığından korunmuştur.</a:t>
            </a:r>
          </a:p>
        </p:txBody>
      </p:sp>
      <p:pic>
        <p:nvPicPr>
          <p:cNvPr id="5" name="Resim 4">
            <a:extLst>
              <a:ext uri="{FF2B5EF4-FFF2-40B4-BE49-F238E27FC236}">
                <a16:creationId xmlns:a16="http://schemas.microsoft.com/office/drawing/2014/main" id="{00BDA384-50CD-A115-DB3E-48012158E835}"/>
              </a:ext>
            </a:extLst>
          </p:cNvPr>
          <p:cNvPicPr>
            <a:picLocks noChangeAspect="1"/>
          </p:cNvPicPr>
          <p:nvPr/>
        </p:nvPicPr>
        <p:blipFill>
          <a:blip r:embed="rId2"/>
          <a:stretch>
            <a:fillRect/>
          </a:stretch>
        </p:blipFill>
        <p:spPr>
          <a:xfrm>
            <a:off x="7818923" y="2547621"/>
            <a:ext cx="3461652" cy="3636679"/>
          </a:xfrm>
          <a:prstGeom prst="rect">
            <a:avLst/>
          </a:prstGeom>
        </p:spPr>
      </p:pic>
      <p:pic>
        <p:nvPicPr>
          <p:cNvPr id="7" name="Resim 6">
            <a:extLst>
              <a:ext uri="{FF2B5EF4-FFF2-40B4-BE49-F238E27FC236}">
                <a16:creationId xmlns:a16="http://schemas.microsoft.com/office/drawing/2014/main" id="{C49556A6-F47C-1E74-8B91-639694C3BFC5}"/>
              </a:ext>
            </a:extLst>
          </p:cNvPr>
          <p:cNvPicPr>
            <a:picLocks noChangeAspect="1"/>
          </p:cNvPicPr>
          <p:nvPr/>
        </p:nvPicPr>
        <p:blipFill>
          <a:blip r:embed="rId3"/>
          <a:stretch>
            <a:fillRect/>
          </a:stretch>
        </p:blipFill>
        <p:spPr>
          <a:xfrm>
            <a:off x="587847" y="2594244"/>
            <a:ext cx="6207807" cy="3590056"/>
          </a:xfrm>
          <a:prstGeom prst="rect">
            <a:avLst/>
          </a:prstGeom>
        </p:spPr>
      </p:pic>
    </p:spTree>
    <p:extLst>
      <p:ext uri="{BB962C8B-B14F-4D97-AF65-F5344CB8AC3E}">
        <p14:creationId xmlns:p14="http://schemas.microsoft.com/office/powerpoint/2010/main" val="25740982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62CB217-705D-7DBE-E4AB-8591E37B390E}"/>
              </a:ext>
            </a:extLst>
          </p:cNvPr>
          <p:cNvSpPr>
            <a:spLocks noGrp="1"/>
          </p:cNvSpPr>
          <p:nvPr>
            <p:ph type="title"/>
          </p:nvPr>
        </p:nvSpPr>
        <p:spPr>
          <a:xfrm>
            <a:off x="521208" y="789710"/>
            <a:ext cx="11155680" cy="559447"/>
          </a:xfrm>
        </p:spPr>
        <p:txBody>
          <a:bodyPr>
            <a:normAutofit/>
          </a:bodyPr>
          <a:lstStyle/>
          <a:p>
            <a:r>
              <a:rPr lang="tr-TR" sz="2900" dirty="0" err="1"/>
              <a:t>Encoding</a:t>
            </a:r>
            <a:endParaRPr lang="tr-TR" sz="2900" dirty="0"/>
          </a:p>
        </p:txBody>
      </p:sp>
      <p:sp>
        <p:nvSpPr>
          <p:cNvPr id="3" name="İçerik Yer Tutucusu 2">
            <a:extLst>
              <a:ext uri="{FF2B5EF4-FFF2-40B4-BE49-F238E27FC236}">
                <a16:creationId xmlns:a16="http://schemas.microsoft.com/office/drawing/2014/main" id="{2F3CC11F-AA39-166F-935E-569FF0761B2D}"/>
              </a:ext>
            </a:extLst>
          </p:cNvPr>
          <p:cNvSpPr>
            <a:spLocks noGrp="1"/>
          </p:cNvSpPr>
          <p:nvPr>
            <p:ph idx="1"/>
          </p:nvPr>
        </p:nvSpPr>
        <p:spPr>
          <a:xfrm>
            <a:off x="521208" y="1465118"/>
            <a:ext cx="11155680" cy="748145"/>
          </a:xfrm>
        </p:spPr>
        <p:txBody>
          <a:bodyPr/>
          <a:lstStyle/>
          <a:p>
            <a:r>
              <a:rPr lang="tr-TR" dirty="0"/>
              <a:t>Kategorik değişkenler makine öğrenmesi modellerine uygun hale getirilmek amacıyla sayısala dönüştürülmüştür.</a:t>
            </a:r>
          </a:p>
        </p:txBody>
      </p:sp>
      <p:pic>
        <p:nvPicPr>
          <p:cNvPr id="8" name="Resim 7">
            <a:extLst>
              <a:ext uri="{FF2B5EF4-FFF2-40B4-BE49-F238E27FC236}">
                <a16:creationId xmlns:a16="http://schemas.microsoft.com/office/drawing/2014/main" id="{616C34FF-EC69-8E47-410A-46FB689BD24C}"/>
              </a:ext>
            </a:extLst>
          </p:cNvPr>
          <p:cNvPicPr>
            <a:picLocks noChangeAspect="1"/>
          </p:cNvPicPr>
          <p:nvPr/>
        </p:nvPicPr>
        <p:blipFill>
          <a:blip r:embed="rId2"/>
          <a:stretch>
            <a:fillRect/>
          </a:stretch>
        </p:blipFill>
        <p:spPr>
          <a:xfrm>
            <a:off x="6516200" y="1907897"/>
            <a:ext cx="4363082" cy="1520468"/>
          </a:xfrm>
          <a:prstGeom prst="rect">
            <a:avLst/>
          </a:prstGeom>
        </p:spPr>
      </p:pic>
      <p:pic>
        <p:nvPicPr>
          <p:cNvPr id="10" name="Resim 9">
            <a:extLst>
              <a:ext uri="{FF2B5EF4-FFF2-40B4-BE49-F238E27FC236}">
                <a16:creationId xmlns:a16="http://schemas.microsoft.com/office/drawing/2014/main" id="{F4DD73BF-9C13-B1E8-0A5E-F6362B1D7B1B}"/>
              </a:ext>
            </a:extLst>
          </p:cNvPr>
          <p:cNvPicPr>
            <a:picLocks noChangeAspect="1"/>
          </p:cNvPicPr>
          <p:nvPr/>
        </p:nvPicPr>
        <p:blipFill>
          <a:blip r:embed="rId3"/>
          <a:stretch>
            <a:fillRect/>
          </a:stretch>
        </p:blipFill>
        <p:spPr>
          <a:xfrm>
            <a:off x="521208" y="2793399"/>
            <a:ext cx="5636736" cy="3274891"/>
          </a:xfrm>
          <a:prstGeom prst="rect">
            <a:avLst/>
          </a:prstGeom>
        </p:spPr>
      </p:pic>
      <p:sp>
        <p:nvSpPr>
          <p:cNvPr id="11" name="Başlık 1">
            <a:extLst>
              <a:ext uri="{FF2B5EF4-FFF2-40B4-BE49-F238E27FC236}">
                <a16:creationId xmlns:a16="http://schemas.microsoft.com/office/drawing/2014/main" id="{645CCCEE-0A1C-95FF-6B20-272F6246F602}"/>
              </a:ext>
            </a:extLst>
          </p:cNvPr>
          <p:cNvSpPr txBox="1">
            <a:spLocks/>
          </p:cNvSpPr>
          <p:nvPr/>
        </p:nvSpPr>
        <p:spPr>
          <a:xfrm>
            <a:off x="6440563" y="3591420"/>
            <a:ext cx="5636736" cy="559447"/>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a:lstStyle>
          <a:p>
            <a:r>
              <a:rPr lang="tr-TR" sz="2900" dirty="0"/>
              <a:t>Veriyi Eğitim/Test Olarak Bölme </a:t>
            </a:r>
          </a:p>
        </p:txBody>
      </p:sp>
      <p:sp>
        <p:nvSpPr>
          <p:cNvPr id="12" name="İçerik Yer Tutucusu 2">
            <a:extLst>
              <a:ext uri="{FF2B5EF4-FFF2-40B4-BE49-F238E27FC236}">
                <a16:creationId xmlns:a16="http://schemas.microsoft.com/office/drawing/2014/main" id="{76D508E1-CE2C-49A6-A503-FBA51309F5CC}"/>
              </a:ext>
            </a:extLst>
          </p:cNvPr>
          <p:cNvSpPr txBox="1">
            <a:spLocks/>
          </p:cNvSpPr>
          <p:nvPr/>
        </p:nvSpPr>
        <p:spPr>
          <a:xfrm>
            <a:off x="6516199" y="4313923"/>
            <a:ext cx="5410363" cy="1754368"/>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dirty="0"/>
              <a:t>Toplam 741 kayıt,</a:t>
            </a:r>
          </a:p>
          <a:p>
            <a:pPr marL="0" indent="0">
              <a:buNone/>
            </a:pPr>
            <a:r>
              <a:rPr lang="tr-TR" dirty="0"/>
              <a:t>%80 Eğitim verisi 592 kayıt,</a:t>
            </a:r>
          </a:p>
          <a:p>
            <a:pPr marL="0" indent="0">
              <a:buNone/>
            </a:pPr>
            <a:r>
              <a:rPr lang="tr-TR" dirty="0"/>
              <a:t>%20 Test verisi 149 kayıt, olarak ayrıştırıldı.</a:t>
            </a:r>
          </a:p>
        </p:txBody>
      </p:sp>
    </p:spTree>
    <p:extLst>
      <p:ext uri="{BB962C8B-B14F-4D97-AF65-F5344CB8AC3E}">
        <p14:creationId xmlns:p14="http://schemas.microsoft.com/office/powerpoint/2010/main" val="12242101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2BF7426-D3F3-3718-DD52-3E8C5BF3336E}"/>
              </a:ext>
            </a:extLst>
          </p:cNvPr>
          <p:cNvSpPr>
            <a:spLocks noGrp="1"/>
          </p:cNvSpPr>
          <p:nvPr>
            <p:ph type="title"/>
          </p:nvPr>
        </p:nvSpPr>
        <p:spPr>
          <a:xfrm>
            <a:off x="521208" y="978408"/>
            <a:ext cx="11155680" cy="621792"/>
          </a:xfrm>
        </p:spPr>
        <p:txBody>
          <a:bodyPr>
            <a:normAutofit/>
          </a:bodyPr>
          <a:lstStyle/>
          <a:p>
            <a:r>
              <a:rPr lang="tr-TR" sz="2900" dirty="0"/>
              <a:t>Tahminleyici Modeller</a:t>
            </a:r>
          </a:p>
        </p:txBody>
      </p:sp>
      <p:sp>
        <p:nvSpPr>
          <p:cNvPr id="3" name="İçerik Yer Tutucusu 2">
            <a:extLst>
              <a:ext uri="{FF2B5EF4-FFF2-40B4-BE49-F238E27FC236}">
                <a16:creationId xmlns:a16="http://schemas.microsoft.com/office/drawing/2014/main" id="{C88FCD25-F3F4-78E1-9910-71EB1C064D3C}"/>
              </a:ext>
            </a:extLst>
          </p:cNvPr>
          <p:cNvSpPr>
            <a:spLocks noGrp="1"/>
          </p:cNvSpPr>
          <p:nvPr>
            <p:ph idx="1"/>
          </p:nvPr>
        </p:nvSpPr>
        <p:spPr>
          <a:xfrm>
            <a:off x="521208" y="1600200"/>
            <a:ext cx="11155680" cy="4745736"/>
          </a:xfrm>
        </p:spPr>
        <p:txBody>
          <a:bodyPr/>
          <a:lstStyle/>
          <a:p>
            <a:pPr marL="0" indent="0">
              <a:buNone/>
            </a:pPr>
            <a:r>
              <a:rPr lang="tr-TR" b="1" dirty="0"/>
              <a:t>1. Lojistik Regresyon</a:t>
            </a:r>
            <a:endParaRPr lang="tr-TR" dirty="0"/>
          </a:p>
          <a:p>
            <a:pPr marL="0" indent="0">
              <a:buNone/>
            </a:pPr>
            <a:r>
              <a:rPr lang="tr-TR" dirty="0"/>
              <a:t>Doğrusal bir sınır çizerek iki sınıfı ayırt eder. Referans model olarak kullanılmıştır.</a:t>
            </a:r>
          </a:p>
          <a:p>
            <a:pPr marL="0" indent="0">
              <a:buNone/>
            </a:pPr>
            <a:r>
              <a:rPr lang="tr-TR" b="1" dirty="0"/>
              <a:t>2. Karar Ağacı</a:t>
            </a:r>
            <a:endParaRPr lang="tr-TR" dirty="0"/>
          </a:p>
          <a:p>
            <a:pPr marL="0" indent="0">
              <a:buNone/>
            </a:pPr>
            <a:r>
              <a:rPr lang="tr-TR" dirty="0" err="1"/>
              <a:t>If</a:t>
            </a:r>
            <a:r>
              <a:rPr lang="tr-TR" dirty="0"/>
              <a:t>-else kurallarıyla veriyi böler. </a:t>
            </a:r>
            <a:r>
              <a:rPr lang="tr-TR" dirty="0" err="1"/>
              <a:t>Yorumlanabilirliği</a:t>
            </a:r>
            <a:r>
              <a:rPr lang="tr-TR" dirty="0"/>
              <a:t> yüksektir. Aşırı öğrenmeyi önlemek için </a:t>
            </a:r>
            <a:r>
              <a:rPr lang="tr-TR" dirty="0" err="1"/>
              <a:t>max_depth</a:t>
            </a:r>
            <a:r>
              <a:rPr lang="tr-TR" dirty="0"/>
              <a:t>=4 uygulanmıştır.</a:t>
            </a:r>
          </a:p>
          <a:p>
            <a:pPr marL="0" indent="0">
              <a:buNone/>
            </a:pPr>
            <a:r>
              <a:rPr lang="tr-TR" b="1" dirty="0"/>
              <a:t>3. </a:t>
            </a:r>
            <a:r>
              <a:rPr lang="tr-TR" b="1" dirty="0" err="1"/>
              <a:t>Random</a:t>
            </a:r>
            <a:r>
              <a:rPr lang="tr-TR" b="1" dirty="0"/>
              <a:t> </a:t>
            </a:r>
            <a:r>
              <a:rPr lang="tr-TR" b="1" dirty="0" err="1"/>
              <a:t>Forest</a:t>
            </a:r>
            <a:endParaRPr lang="tr-TR" dirty="0"/>
          </a:p>
          <a:p>
            <a:pPr marL="0" indent="0">
              <a:buNone/>
            </a:pPr>
            <a:r>
              <a:rPr lang="tr-TR" dirty="0"/>
              <a:t>100 karar ağacının oylamasıyla karar verir. Tek ağaca göre çok daha kararlı sonuçlar üretir. </a:t>
            </a:r>
            <a:r>
              <a:rPr lang="tr-TR" dirty="0" err="1"/>
              <a:t>max_depth</a:t>
            </a:r>
            <a:r>
              <a:rPr lang="tr-TR" dirty="0"/>
              <a:t>=4, </a:t>
            </a:r>
            <a:r>
              <a:rPr lang="tr-TR" dirty="0" err="1"/>
              <a:t>min_samples_leaf</a:t>
            </a:r>
            <a:r>
              <a:rPr lang="tr-TR" dirty="0"/>
              <a:t>=5 ile optimize edilmiştir.</a:t>
            </a:r>
          </a:p>
          <a:p>
            <a:pPr marL="0" indent="0">
              <a:buNone/>
            </a:pPr>
            <a:r>
              <a:rPr lang="tr-TR" b="1" dirty="0"/>
              <a:t>4. </a:t>
            </a:r>
            <a:r>
              <a:rPr lang="tr-TR" b="1" dirty="0" err="1"/>
              <a:t>Gradient</a:t>
            </a:r>
            <a:r>
              <a:rPr lang="tr-TR" b="1" dirty="0"/>
              <a:t> </a:t>
            </a:r>
            <a:r>
              <a:rPr lang="tr-TR" b="1" dirty="0" err="1"/>
              <a:t>Boosting</a:t>
            </a:r>
            <a:endParaRPr lang="tr-TR" dirty="0"/>
          </a:p>
          <a:p>
            <a:pPr marL="0" indent="0">
              <a:buNone/>
            </a:pPr>
            <a:r>
              <a:rPr lang="tr-TR" dirty="0"/>
              <a:t>Hatalardan öğrenerek sıralı şekilde güçlenen bir modeldir. Sentetik veri yapısı nedeniyle %100 doğruluğa ulaşmıştır.</a:t>
            </a:r>
          </a:p>
          <a:p>
            <a:endParaRPr lang="tr-TR" dirty="0"/>
          </a:p>
        </p:txBody>
      </p:sp>
    </p:spTree>
    <p:extLst>
      <p:ext uri="{BB962C8B-B14F-4D97-AF65-F5344CB8AC3E}">
        <p14:creationId xmlns:p14="http://schemas.microsoft.com/office/powerpoint/2010/main" val="12430257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86A89CF-E9E5-E170-75DB-EDD4B4442587}"/>
              </a:ext>
            </a:extLst>
          </p:cNvPr>
          <p:cNvSpPr>
            <a:spLocks noGrp="1"/>
          </p:cNvSpPr>
          <p:nvPr>
            <p:ph type="title"/>
          </p:nvPr>
        </p:nvSpPr>
        <p:spPr/>
        <p:txBody>
          <a:bodyPr/>
          <a:lstStyle/>
          <a:p>
            <a:r>
              <a:rPr lang="tr-TR" sz="2900" dirty="0"/>
              <a:t>Model Sonuçları</a:t>
            </a:r>
            <a:br>
              <a:rPr lang="tr-TR" dirty="0"/>
            </a:br>
            <a:endParaRPr lang="tr-TR" dirty="0"/>
          </a:p>
        </p:txBody>
      </p:sp>
      <p:graphicFrame>
        <p:nvGraphicFramePr>
          <p:cNvPr id="4" name="İçerik Yer Tutucusu 3">
            <a:extLst>
              <a:ext uri="{FF2B5EF4-FFF2-40B4-BE49-F238E27FC236}">
                <a16:creationId xmlns:a16="http://schemas.microsoft.com/office/drawing/2014/main" id="{2C5F2CD4-7946-A540-4E88-63F6D9828964}"/>
              </a:ext>
            </a:extLst>
          </p:cNvPr>
          <p:cNvGraphicFramePr>
            <a:graphicFrameLocks noGrp="1"/>
          </p:cNvGraphicFramePr>
          <p:nvPr>
            <p:ph idx="1"/>
            <p:extLst>
              <p:ext uri="{D42A27DB-BD31-4B8C-83A1-F6EECF244321}">
                <p14:modId xmlns:p14="http://schemas.microsoft.com/office/powerpoint/2010/main" val="1939950770"/>
              </p:ext>
            </p:extLst>
          </p:nvPr>
        </p:nvGraphicFramePr>
        <p:xfrm>
          <a:off x="707656" y="2089936"/>
          <a:ext cx="7167995" cy="2678127"/>
        </p:xfrm>
        <a:graphic>
          <a:graphicData uri="http://schemas.openxmlformats.org/drawingml/2006/table">
            <a:tbl>
              <a:tblPr/>
              <a:tblGrid>
                <a:gridCol w="2149844">
                  <a:extLst>
                    <a:ext uri="{9D8B030D-6E8A-4147-A177-3AD203B41FA5}">
                      <a16:colId xmlns:a16="http://schemas.microsoft.com/office/drawing/2014/main" val="3242090346"/>
                    </a:ext>
                  </a:extLst>
                </a:gridCol>
                <a:gridCol w="1548245">
                  <a:extLst>
                    <a:ext uri="{9D8B030D-6E8A-4147-A177-3AD203B41FA5}">
                      <a16:colId xmlns:a16="http://schemas.microsoft.com/office/drawing/2014/main" val="53178006"/>
                    </a:ext>
                  </a:extLst>
                </a:gridCol>
                <a:gridCol w="1776846">
                  <a:extLst>
                    <a:ext uri="{9D8B030D-6E8A-4147-A177-3AD203B41FA5}">
                      <a16:colId xmlns:a16="http://schemas.microsoft.com/office/drawing/2014/main" val="3750215607"/>
                    </a:ext>
                  </a:extLst>
                </a:gridCol>
                <a:gridCol w="1693060">
                  <a:extLst>
                    <a:ext uri="{9D8B030D-6E8A-4147-A177-3AD203B41FA5}">
                      <a16:colId xmlns:a16="http://schemas.microsoft.com/office/drawing/2014/main" val="1361973412"/>
                    </a:ext>
                  </a:extLst>
                </a:gridCol>
              </a:tblGrid>
              <a:tr h="555019">
                <a:tc>
                  <a:txBody>
                    <a:bodyPr/>
                    <a:lstStyle/>
                    <a:p>
                      <a:pPr>
                        <a:buNone/>
                      </a:pPr>
                      <a:r>
                        <a:rPr lang="tr-TR" sz="1800" dirty="0"/>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tr-TR" sz="1800" dirty="0"/>
                        <a:t>Doğruluk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tr-TR" sz="1800" dirty="0"/>
                        <a:t>F1 (0) Müşteri Tekrar Almaz</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tr-TR" sz="1800" dirty="0"/>
                        <a:t>F1 (1) Müşteri Tekrar Alır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12889847"/>
                  </a:ext>
                </a:extLst>
              </a:tr>
              <a:tr h="511522">
                <a:tc>
                  <a:txBody>
                    <a:bodyPr/>
                    <a:lstStyle/>
                    <a:p>
                      <a:pPr>
                        <a:buNone/>
                      </a:pPr>
                      <a:r>
                        <a:rPr lang="tr-TR" sz="1800" dirty="0"/>
                        <a:t>Lojistik Regresyon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r-TR" sz="1800" dirty="0"/>
                        <a:t>%79.19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r-TR" sz="1800" dirty="0"/>
                        <a:t>0.81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r-TR" sz="1800" dirty="0"/>
                        <a:t>0.76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21249773"/>
                  </a:ext>
                </a:extLst>
              </a:tr>
              <a:tr h="495197">
                <a:tc>
                  <a:txBody>
                    <a:bodyPr/>
                    <a:lstStyle/>
                    <a:p>
                      <a:pPr>
                        <a:buNone/>
                      </a:pPr>
                      <a:r>
                        <a:rPr lang="tr-TR" sz="1800"/>
                        <a:t>Karar Ağacı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r-TR" sz="1800" dirty="0"/>
                        <a:t>%77.18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r-TR" sz="1800" dirty="0"/>
                        <a:t>0.82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r-TR" sz="1800" dirty="0"/>
                        <a:t>0.69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877670"/>
                  </a:ext>
                </a:extLst>
              </a:tr>
              <a:tr h="462824">
                <a:tc>
                  <a:txBody>
                    <a:bodyPr/>
                    <a:lstStyle/>
                    <a:p>
                      <a:pPr>
                        <a:buNone/>
                      </a:pPr>
                      <a:r>
                        <a:rPr lang="tr-TR" sz="1800" dirty="0" err="1"/>
                        <a:t>Random</a:t>
                      </a:r>
                      <a:r>
                        <a:rPr lang="tr-TR" sz="1800" dirty="0"/>
                        <a:t> </a:t>
                      </a:r>
                      <a:r>
                        <a:rPr lang="tr-TR" sz="1800" dirty="0" err="1"/>
                        <a:t>Forest</a:t>
                      </a:r>
                      <a:endParaRPr lang="tr-TR"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r-TR" sz="1800"/>
                        <a:t>%87.25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r-TR" sz="1800" dirty="0"/>
                        <a:t>0.90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r-TR" sz="1800" dirty="0"/>
                        <a:t>0.83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98635054"/>
                  </a:ext>
                </a:extLst>
              </a:tr>
              <a:tr h="568504">
                <a:tc>
                  <a:txBody>
                    <a:bodyPr/>
                    <a:lstStyle/>
                    <a:p>
                      <a:pPr>
                        <a:buNone/>
                      </a:pPr>
                      <a:r>
                        <a:rPr lang="tr-TR" sz="1800"/>
                        <a:t>Gradient Boosting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r-TR" sz="1800"/>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r-TR" sz="1800"/>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r-TR" sz="1800" dirty="0"/>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1497474"/>
                  </a:ext>
                </a:extLst>
              </a:tr>
            </a:tbl>
          </a:graphicData>
        </a:graphic>
      </p:graphicFrame>
      <p:sp>
        <p:nvSpPr>
          <p:cNvPr id="5" name="Metin kutusu 4">
            <a:extLst>
              <a:ext uri="{FF2B5EF4-FFF2-40B4-BE49-F238E27FC236}">
                <a16:creationId xmlns:a16="http://schemas.microsoft.com/office/drawing/2014/main" id="{E7DFCC07-6BCC-B6A6-EBDB-C5AF26F58A91}"/>
              </a:ext>
            </a:extLst>
          </p:cNvPr>
          <p:cNvSpPr txBox="1"/>
          <p:nvPr/>
        </p:nvSpPr>
        <p:spPr>
          <a:xfrm>
            <a:off x="497490" y="5238106"/>
            <a:ext cx="10986854" cy="369332"/>
          </a:xfrm>
          <a:prstGeom prst="rect">
            <a:avLst/>
          </a:prstGeom>
          <a:noFill/>
        </p:spPr>
        <p:txBody>
          <a:bodyPr wrap="none" rtlCol="0">
            <a:spAutoFit/>
          </a:bodyPr>
          <a:lstStyle/>
          <a:p>
            <a:r>
              <a:rPr lang="tr-TR" dirty="0"/>
              <a:t>*</a:t>
            </a:r>
            <a:r>
              <a:rPr lang="tr-TR" dirty="0" err="1"/>
              <a:t>Gradient</a:t>
            </a:r>
            <a:r>
              <a:rPr lang="tr-TR" dirty="0"/>
              <a:t> </a:t>
            </a:r>
            <a:r>
              <a:rPr lang="tr-TR" dirty="0" err="1"/>
              <a:t>Boosting</a:t>
            </a:r>
            <a:r>
              <a:rPr lang="tr-TR" dirty="0"/>
              <a:t> %100 doğruluğa ulaşmıştır ancak bu sonuç sentetik verinin yapısından kaynaklanmaktadır.</a:t>
            </a:r>
          </a:p>
        </p:txBody>
      </p:sp>
      <p:sp>
        <p:nvSpPr>
          <p:cNvPr id="6" name="Metin kutusu 5">
            <a:extLst>
              <a:ext uri="{FF2B5EF4-FFF2-40B4-BE49-F238E27FC236}">
                <a16:creationId xmlns:a16="http://schemas.microsoft.com/office/drawing/2014/main" id="{1FA7EB40-4459-9F78-46F7-B918309D6F8E}"/>
              </a:ext>
            </a:extLst>
          </p:cNvPr>
          <p:cNvSpPr txBox="1"/>
          <p:nvPr/>
        </p:nvSpPr>
        <p:spPr>
          <a:xfrm>
            <a:off x="8169645" y="2140763"/>
            <a:ext cx="3314699" cy="2862322"/>
          </a:xfrm>
          <a:prstGeom prst="rect">
            <a:avLst/>
          </a:prstGeom>
          <a:noFill/>
        </p:spPr>
        <p:txBody>
          <a:bodyPr wrap="square" rtlCol="0">
            <a:spAutoFit/>
          </a:bodyPr>
          <a:lstStyle/>
          <a:p>
            <a:pPr marL="285750" indent="-285750">
              <a:buFont typeface="Arial" panose="020B0604020202020204" pitchFamily="34" charset="0"/>
              <a:buChar char="•"/>
            </a:pPr>
            <a:r>
              <a:rPr lang="tr-TR" dirty="0" err="1"/>
              <a:t>Random</a:t>
            </a:r>
            <a:r>
              <a:rPr lang="tr-TR" dirty="0"/>
              <a:t> </a:t>
            </a:r>
            <a:r>
              <a:rPr lang="tr-TR" dirty="0" err="1"/>
              <a:t>Forest</a:t>
            </a:r>
            <a:r>
              <a:rPr lang="tr-TR" dirty="0"/>
              <a:t> algoritması %87.25 doğruluk oranıyla en güvenilir sonucu üretmiştir. Lojistik Regresyon ise en basit model olmasına rağmen %79.19 ile güçlü bir referans oluşturmuştur. Karar Ağacı tekrar satın alacak müşterilerin %31'ini kaçırmıştır (F1=0.69).</a:t>
            </a:r>
          </a:p>
        </p:txBody>
      </p:sp>
    </p:spTree>
    <p:extLst>
      <p:ext uri="{BB962C8B-B14F-4D97-AF65-F5344CB8AC3E}">
        <p14:creationId xmlns:p14="http://schemas.microsoft.com/office/powerpoint/2010/main" val="3185577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0F7BFAB-06E2-2BF0-14D5-A289E5AD2B82}"/>
              </a:ext>
            </a:extLst>
          </p:cNvPr>
          <p:cNvSpPr>
            <a:spLocks noGrp="1"/>
          </p:cNvSpPr>
          <p:nvPr>
            <p:ph type="title"/>
          </p:nvPr>
        </p:nvSpPr>
        <p:spPr>
          <a:xfrm>
            <a:off x="521208" y="978409"/>
            <a:ext cx="11155680" cy="923128"/>
          </a:xfrm>
        </p:spPr>
        <p:txBody>
          <a:bodyPr>
            <a:normAutofit/>
          </a:bodyPr>
          <a:lstStyle/>
          <a:p>
            <a:r>
              <a:rPr lang="tr-TR" sz="2900" dirty="0"/>
              <a:t>Model Sonuçları</a:t>
            </a:r>
          </a:p>
        </p:txBody>
      </p:sp>
      <p:pic>
        <p:nvPicPr>
          <p:cNvPr id="5" name="İçerik Yer Tutucusu 4">
            <a:extLst>
              <a:ext uri="{FF2B5EF4-FFF2-40B4-BE49-F238E27FC236}">
                <a16:creationId xmlns:a16="http://schemas.microsoft.com/office/drawing/2014/main" id="{F6630761-C04B-83A2-AA8B-682343B24F04}"/>
              </a:ext>
            </a:extLst>
          </p:cNvPr>
          <p:cNvPicPr>
            <a:picLocks noGrp="1" noChangeAspect="1"/>
          </p:cNvPicPr>
          <p:nvPr>
            <p:ph idx="1"/>
          </p:nvPr>
        </p:nvPicPr>
        <p:blipFill>
          <a:blip r:embed="rId2"/>
          <a:stretch>
            <a:fillRect/>
          </a:stretch>
        </p:blipFill>
        <p:spPr>
          <a:xfrm>
            <a:off x="1367785" y="1738379"/>
            <a:ext cx="8864536" cy="4350693"/>
          </a:xfrm>
          <a:prstGeom prst="rect">
            <a:avLst/>
          </a:prstGeom>
        </p:spPr>
      </p:pic>
    </p:spTree>
    <p:extLst>
      <p:ext uri="{BB962C8B-B14F-4D97-AF65-F5344CB8AC3E}">
        <p14:creationId xmlns:p14="http://schemas.microsoft.com/office/powerpoint/2010/main" val="8805906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B9033-4BCD-D54D-9B3D-D81B6F369AA8}"/>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DB49760B-4581-39CD-0C4C-5B44D6884FCE}"/>
              </a:ext>
            </a:extLst>
          </p:cNvPr>
          <p:cNvSpPr>
            <a:spLocks noGrp="1"/>
          </p:cNvSpPr>
          <p:nvPr>
            <p:ph type="title"/>
          </p:nvPr>
        </p:nvSpPr>
        <p:spPr>
          <a:xfrm>
            <a:off x="521208" y="978409"/>
            <a:ext cx="11155680" cy="923128"/>
          </a:xfrm>
        </p:spPr>
        <p:txBody>
          <a:bodyPr>
            <a:normAutofit/>
          </a:bodyPr>
          <a:lstStyle/>
          <a:p>
            <a:r>
              <a:rPr lang="tr-TR" sz="2900" dirty="0"/>
              <a:t>Model Sonuçları</a:t>
            </a:r>
          </a:p>
        </p:txBody>
      </p:sp>
      <p:sp>
        <p:nvSpPr>
          <p:cNvPr id="4" name="İçerik Yer Tutucusu 3">
            <a:extLst>
              <a:ext uri="{FF2B5EF4-FFF2-40B4-BE49-F238E27FC236}">
                <a16:creationId xmlns:a16="http://schemas.microsoft.com/office/drawing/2014/main" id="{892F36D2-97E7-B7FA-34F6-230528B846FD}"/>
              </a:ext>
            </a:extLst>
          </p:cNvPr>
          <p:cNvSpPr>
            <a:spLocks noGrp="1"/>
          </p:cNvSpPr>
          <p:nvPr>
            <p:ph idx="1"/>
          </p:nvPr>
        </p:nvSpPr>
        <p:spPr>
          <a:xfrm>
            <a:off x="515112" y="1704110"/>
            <a:ext cx="5127152" cy="4175482"/>
          </a:xfrm>
        </p:spPr>
        <p:txBody>
          <a:bodyPr vert="horz" lIns="91440" tIns="45720" rIns="91440" bIns="45720" rtlCol="0" anchor="t">
            <a:normAutofit fontScale="92500" lnSpcReduction="10000"/>
          </a:bodyPr>
          <a:lstStyle/>
          <a:p>
            <a:pPr marL="0" indent="0">
              <a:buNone/>
            </a:pPr>
            <a:r>
              <a:rPr lang="tr-TR" b="1" dirty="0"/>
              <a:t>Lojistik Regresyon — %79.19</a:t>
            </a:r>
            <a:endParaRPr lang="tr-TR" dirty="0"/>
          </a:p>
          <a:p>
            <a:pPr>
              <a:buFont typeface="Courier New" panose="02070309020205020404" pitchFamily="49" charset="0"/>
              <a:buChar char="o"/>
            </a:pPr>
            <a:r>
              <a:rPr lang="tr-TR" sz="1600" dirty="0"/>
              <a:t>Almayanları tespit etmede %81 başarılı (F1=0.81)</a:t>
            </a:r>
          </a:p>
          <a:p>
            <a:pPr>
              <a:buFont typeface="Courier New" panose="02070309020205020404" pitchFamily="49" charset="0"/>
              <a:buChar char="o"/>
            </a:pPr>
            <a:r>
              <a:rPr lang="tr-TR" sz="1600" dirty="0"/>
              <a:t>Alanları tespit etmede %76 başarılı (F1=0.76)</a:t>
            </a:r>
          </a:p>
          <a:p>
            <a:pPr>
              <a:buFont typeface="Courier New" panose="02070309020205020404" pitchFamily="49" charset="0"/>
              <a:buChar char="o"/>
            </a:pPr>
            <a:r>
              <a:rPr lang="tr-TR" sz="1600" dirty="0"/>
              <a:t>En basit model olmasına rağmen dengeli sonuç üretmiştir</a:t>
            </a:r>
          </a:p>
          <a:p>
            <a:pPr>
              <a:buFont typeface="Courier New" panose="02070309020205020404" pitchFamily="49" charset="0"/>
              <a:buChar char="o"/>
            </a:pPr>
            <a:r>
              <a:rPr lang="tr-TR" sz="1600"/>
              <a:t>Referans model </a:t>
            </a:r>
            <a:r>
              <a:rPr lang="tr-TR" sz="1600" dirty="0"/>
              <a:t>olarak güçlü bir başlangıç noktası oluşturmuştur</a:t>
            </a:r>
          </a:p>
          <a:p>
            <a:pPr marL="0" indent="0">
              <a:buNone/>
            </a:pPr>
            <a:endParaRPr lang="tr-TR" sz="1600" dirty="0"/>
          </a:p>
          <a:p>
            <a:pPr marL="0" indent="0">
              <a:buNone/>
            </a:pPr>
            <a:r>
              <a:rPr lang="tr-TR" b="1" dirty="0"/>
              <a:t>Karar Ağacı — %77.18</a:t>
            </a:r>
            <a:endParaRPr lang="tr-TR" dirty="0"/>
          </a:p>
          <a:p>
            <a:pPr>
              <a:buFont typeface="Courier New" panose="02070309020205020404" pitchFamily="49" charset="0"/>
              <a:buChar char="o"/>
            </a:pPr>
            <a:r>
              <a:rPr lang="tr-TR" sz="1600" dirty="0"/>
              <a:t>Almayanları tespit etmede %82 başarılı (F1=0.82)</a:t>
            </a:r>
          </a:p>
          <a:p>
            <a:pPr>
              <a:buFont typeface="Courier New" panose="02070309020205020404" pitchFamily="49" charset="0"/>
              <a:buChar char="o"/>
            </a:pPr>
            <a:r>
              <a:rPr lang="tr-TR" sz="1600" dirty="0"/>
              <a:t>Alanları tespit etmede %69 başarılı (F1=0.69)</a:t>
            </a:r>
          </a:p>
          <a:p>
            <a:pPr>
              <a:buFont typeface="Courier New" panose="02070309020205020404" pitchFamily="49" charset="0"/>
              <a:buChar char="o"/>
            </a:pPr>
            <a:r>
              <a:rPr lang="tr-TR" sz="1600" dirty="0"/>
              <a:t>Tekrar satın alacak müşterilerin %31'ini kaçırmıştır</a:t>
            </a:r>
          </a:p>
          <a:p>
            <a:pPr>
              <a:buFont typeface="Courier New" panose="02070309020205020404" pitchFamily="49" charset="0"/>
              <a:buChar char="o"/>
            </a:pPr>
            <a:r>
              <a:rPr lang="tr-TR" sz="1600" dirty="0"/>
              <a:t>Dengesiz sonuç nedeniyle en zayıf model olmuştur</a:t>
            </a:r>
          </a:p>
          <a:p>
            <a:endParaRPr lang="tr-TR" dirty="0"/>
          </a:p>
        </p:txBody>
      </p:sp>
      <p:sp>
        <p:nvSpPr>
          <p:cNvPr id="7" name="Metin kutusu 6">
            <a:extLst>
              <a:ext uri="{FF2B5EF4-FFF2-40B4-BE49-F238E27FC236}">
                <a16:creationId xmlns:a16="http://schemas.microsoft.com/office/drawing/2014/main" id="{1A1C5A97-4E95-06FA-FEF3-F3DE5C5D4ED3}"/>
              </a:ext>
            </a:extLst>
          </p:cNvPr>
          <p:cNvSpPr txBox="1"/>
          <p:nvPr/>
        </p:nvSpPr>
        <p:spPr>
          <a:xfrm>
            <a:off x="6096000" y="1828802"/>
            <a:ext cx="4858616" cy="4016484"/>
          </a:xfrm>
          <a:prstGeom prst="rect">
            <a:avLst/>
          </a:prstGeom>
          <a:noFill/>
        </p:spPr>
        <p:txBody>
          <a:bodyPr wrap="square" lIns="91440" tIns="45720" rIns="91440" bIns="45720" anchor="t">
            <a:spAutoFit/>
          </a:bodyPr>
          <a:lstStyle/>
          <a:p>
            <a:pPr>
              <a:spcBef>
                <a:spcPts val="1000"/>
              </a:spcBef>
            </a:pPr>
            <a:r>
              <a:rPr lang="tr-TR" sz="1500" b="1" err="1"/>
              <a:t>Random</a:t>
            </a:r>
            <a:r>
              <a:rPr lang="tr-TR" sz="1500" b="1" dirty="0"/>
              <a:t> </a:t>
            </a:r>
            <a:r>
              <a:rPr lang="tr-TR" sz="1500" b="1" err="1"/>
              <a:t>Forest</a:t>
            </a:r>
            <a:r>
              <a:rPr lang="tr-TR" sz="1500" b="1" dirty="0"/>
              <a:t> — %87.25</a:t>
            </a:r>
            <a:endParaRPr lang="tr-TR"/>
          </a:p>
          <a:p>
            <a:pPr marL="285750" indent="-285750">
              <a:spcBef>
                <a:spcPts val="1000"/>
              </a:spcBef>
              <a:buFont typeface="Courier New" panose="02070309020205020404" pitchFamily="49" charset="0"/>
              <a:buChar char="o"/>
            </a:pPr>
            <a:r>
              <a:rPr lang="tr-TR" sz="1500" dirty="0"/>
              <a:t>Almayanları tespit etmede %90 başarılı (F1=0.90)</a:t>
            </a:r>
          </a:p>
          <a:p>
            <a:pPr marL="285750" indent="-285750">
              <a:spcBef>
                <a:spcPts val="1000"/>
              </a:spcBef>
              <a:buFont typeface="Courier New" panose="02070309020205020404" pitchFamily="49" charset="0"/>
              <a:buChar char="o"/>
            </a:pPr>
            <a:r>
              <a:rPr lang="tr-TR" sz="1500" dirty="0"/>
              <a:t>Alanları tespit etmede %83 başarılı (F1=0.83)</a:t>
            </a:r>
          </a:p>
          <a:p>
            <a:pPr marL="285750" indent="-285750">
              <a:spcBef>
                <a:spcPts val="1000"/>
              </a:spcBef>
              <a:buFont typeface="Courier New" panose="02070309020205020404" pitchFamily="49" charset="0"/>
              <a:buChar char="o"/>
            </a:pPr>
            <a:r>
              <a:rPr lang="tr-TR" sz="1500" dirty="0"/>
              <a:t>En yüksek ve en dengeli sonucu üretmiştir</a:t>
            </a:r>
          </a:p>
          <a:p>
            <a:pPr marL="285750" indent="-285750">
              <a:spcBef>
                <a:spcPts val="1000"/>
              </a:spcBef>
              <a:buFont typeface="Courier New" panose="02070309020205020404" pitchFamily="49" charset="0"/>
              <a:buChar char="o"/>
            </a:pPr>
            <a:r>
              <a:rPr lang="tr-TR" sz="1500" dirty="0"/>
              <a:t>Gerçek hayatta kullanım için en uygun modeldir</a:t>
            </a:r>
          </a:p>
          <a:p>
            <a:pPr>
              <a:spcBef>
                <a:spcPts val="1000"/>
              </a:spcBef>
            </a:pPr>
            <a:endParaRPr lang="tr-TR" sz="1500" dirty="0"/>
          </a:p>
          <a:p>
            <a:pPr>
              <a:spcBef>
                <a:spcPts val="1000"/>
              </a:spcBef>
            </a:pPr>
            <a:r>
              <a:rPr lang="tr-TR" sz="1500" b="1" err="1"/>
              <a:t>Gradient</a:t>
            </a:r>
            <a:r>
              <a:rPr lang="tr-TR" sz="1500" b="1" dirty="0"/>
              <a:t> </a:t>
            </a:r>
            <a:r>
              <a:rPr lang="tr-TR" sz="1500" b="1" err="1"/>
              <a:t>Boosting</a:t>
            </a:r>
            <a:r>
              <a:rPr lang="tr-TR" sz="1500" b="1" dirty="0"/>
              <a:t> — %100</a:t>
            </a:r>
          </a:p>
          <a:p>
            <a:pPr marL="285750" indent="-285750">
              <a:spcBef>
                <a:spcPts val="1000"/>
              </a:spcBef>
              <a:buFont typeface="Courier New" panose="02070309020205020404" pitchFamily="49" charset="0"/>
              <a:buChar char="o"/>
            </a:pPr>
            <a:r>
              <a:rPr lang="tr-TR" sz="1500" dirty="0"/>
              <a:t>Tüm sınıflarda %100 başarı göstermiştir</a:t>
            </a:r>
          </a:p>
          <a:p>
            <a:pPr marL="285750" indent="-285750">
              <a:spcBef>
                <a:spcPts val="1000"/>
              </a:spcBef>
              <a:buFont typeface="Courier New" panose="02070309020205020404" pitchFamily="49" charset="0"/>
              <a:buChar char="o"/>
            </a:pPr>
            <a:r>
              <a:rPr lang="tr-TR" sz="1500" dirty="0"/>
              <a:t>Bu sonuç sentetik verinin yapısından kaynaklanmaktadır</a:t>
            </a:r>
          </a:p>
          <a:p>
            <a:pPr marL="285750" indent="-285750">
              <a:spcBef>
                <a:spcPts val="1000"/>
              </a:spcBef>
              <a:buFont typeface="Courier New" panose="02070309020205020404" pitchFamily="49" charset="0"/>
              <a:buChar char="o"/>
            </a:pPr>
            <a:r>
              <a:rPr lang="tr-TR" sz="1500" dirty="0"/>
              <a:t>Gerçek dünya verisinde daha anlamlı sonuçlar üretecektir</a:t>
            </a:r>
          </a:p>
        </p:txBody>
      </p:sp>
      <p:cxnSp>
        <p:nvCxnSpPr>
          <p:cNvPr id="5" name="Düz Ok Bağlayıcısı 4">
            <a:extLst>
              <a:ext uri="{FF2B5EF4-FFF2-40B4-BE49-F238E27FC236}">
                <a16:creationId xmlns:a16="http://schemas.microsoft.com/office/drawing/2014/main" id="{E4336707-0818-E434-26E9-F56B15B5720F}"/>
              </a:ext>
            </a:extLst>
          </p:cNvPr>
          <p:cNvCxnSpPr/>
          <p:nvPr/>
        </p:nvCxnSpPr>
        <p:spPr>
          <a:xfrm flipV="1">
            <a:off x="644042" y="3631800"/>
            <a:ext cx="10413885" cy="50440"/>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6" name="Düz Ok Bağlayıcısı 5">
            <a:extLst>
              <a:ext uri="{FF2B5EF4-FFF2-40B4-BE49-F238E27FC236}">
                <a16:creationId xmlns:a16="http://schemas.microsoft.com/office/drawing/2014/main" id="{CD1DEBA7-7310-B5EB-2049-7DB3F65CD997}"/>
              </a:ext>
            </a:extLst>
          </p:cNvPr>
          <p:cNvCxnSpPr/>
          <p:nvPr/>
        </p:nvCxnSpPr>
        <p:spPr>
          <a:xfrm>
            <a:off x="5751633" y="1352472"/>
            <a:ext cx="42002" cy="4606301"/>
          </a:xfrm>
          <a:prstGeom prst="straightConnector1">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509966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C64299E-9AA4-AAFB-D5DA-EA339B4A6955}"/>
              </a:ext>
            </a:extLst>
          </p:cNvPr>
          <p:cNvSpPr>
            <a:spLocks noGrp="1"/>
          </p:cNvSpPr>
          <p:nvPr>
            <p:ph type="title"/>
          </p:nvPr>
        </p:nvSpPr>
        <p:spPr>
          <a:xfrm>
            <a:off x="521208" y="978408"/>
            <a:ext cx="11155680" cy="770181"/>
          </a:xfrm>
        </p:spPr>
        <p:txBody>
          <a:bodyPr>
            <a:normAutofit fontScale="90000"/>
          </a:bodyPr>
          <a:lstStyle/>
          <a:p>
            <a:r>
              <a:rPr lang="tr-TR" sz="3200" dirty="0" err="1"/>
              <a:t>Gradient</a:t>
            </a:r>
            <a:r>
              <a:rPr lang="tr-TR" sz="3200" dirty="0"/>
              <a:t> </a:t>
            </a:r>
            <a:r>
              <a:rPr lang="tr-TR" sz="3200" dirty="0" err="1"/>
              <a:t>Boosting</a:t>
            </a:r>
            <a:r>
              <a:rPr lang="tr-TR" sz="3200" dirty="0"/>
              <a:t> — %100</a:t>
            </a:r>
            <a:br>
              <a:rPr lang="tr-TR" dirty="0"/>
            </a:br>
            <a:endParaRPr lang="tr-TR" dirty="0"/>
          </a:p>
        </p:txBody>
      </p:sp>
      <p:pic>
        <p:nvPicPr>
          <p:cNvPr id="5" name="İçerik Yer Tutucusu 4">
            <a:extLst>
              <a:ext uri="{FF2B5EF4-FFF2-40B4-BE49-F238E27FC236}">
                <a16:creationId xmlns:a16="http://schemas.microsoft.com/office/drawing/2014/main" id="{477BA47E-5457-ED49-CEF2-6571B30ED01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60197" y="1822926"/>
            <a:ext cx="7902734" cy="3212147"/>
          </a:xfrm>
          <a:prstGeom prst="rect">
            <a:avLst/>
          </a:prstGeom>
        </p:spPr>
      </p:pic>
      <p:sp>
        <p:nvSpPr>
          <p:cNvPr id="7" name="Metin kutusu 6">
            <a:extLst>
              <a:ext uri="{FF2B5EF4-FFF2-40B4-BE49-F238E27FC236}">
                <a16:creationId xmlns:a16="http://schemas.microsoft.com/office/drawing/2014/main" id="{8F679F1F-82A0-6CA2-381A-8B1790B0CCB4}"/>
              </a:ext>
            </a:extLst>
          </p:cNvPr>
          <p:cNvSpPr txBox="1"/>
          <p:nvPr/>
        </p:nvSpPr>
        <p:spPr>
          <a:xfrm>
            <a:off x="705529" y="5316247"/>
            <a:ext cx="10275129" cy="784830"/>
          </a:xfrm>
          <a:prstGeom prst="rect">
            <a:avLst/>
          </a:prstGeom>
          <a:noFill/>
        </p:spPr>
        <p:txBody>
          <a:bodyPr wrap="square">
            <a:spAutoFit/>
          </a:bodyPr>
          <a:lstStyle/>
          <a:p>
            <a:pPr marL="285750" indent="-285750">
              <a:buFont typeface="Courier New" panose="02070309020205020404" pitchFamily="49" charset="0"/>
              <a:buChar char="o"/>
            </a:pPr>
            <a:r>
              <a:rPr lang="tr-TR" sz="1500" dirty="0"/>
              <a:t>Eğitim ve test doğruluğu arasında fark bulunmamaktadır. Bu durum </a:t>
            </a:r>
            <a:r>
              <a:rPr lang="tr-TR" sz="1500" dirty="0" err="1"/>
              <a:t>overfitting'i</a:t>
            </a:r>
            <a:r>
              <a:rPr lang="tr-TR" sz="1500" dirty="0"/>
              <a:t> değil, sentetik verinin deterministik kurgu yapısını yansıtmaktadır. Gerçek dünya verisinde bu örüntüler daha gürültülü olacağından model performansı farklılaşacaktır.</a:t>
            </a:r>
          </a:p>
        </p:txBody>
      </p:sp>
    </p:spTree>
    <p:extLst>
      <p:ext uri="{BB962C8B-B14F-4D97-AF65-F5344CB8AC3E}">
        <p14:creationId xmlns:p14="http://schemas.microsoft.com/office/powerpoint/2010/main" val="39303338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Başlık 1">
            <a:extLst>
              <a:ext uri="{FF2B5EF4-FFF2-40B4-BE49-F238E27FC236}">
                <a16:creationId xmlns:a16="http://schemas.microsoft.com/office/drawing/2014/main" id="{8C7BE02A-787B-EB41-4EFA-5F639CD08591}"/>
              </a:ext>
            </a:extLst>
          </p:cNvPr>
          <p:cNvSpPr>
            <a:spLocks noGrp="1"/>
          </p:cNvSpPr>
          <p:nvPr>
            <p:ph type="title"/>
          </p:nvPr>
        </p:nvSpPr>
        <p:spPr>
          <a:xfrm>
            <a:off x="521208" y="978408"/>
            <a:ext cx="11155680" cy="840001"/>
          </a:xfrm>
        </p:spPr>
        <p:txBody>
          <a:bodyPr>
            <a:normAutofit/>
          </a:bodyPr>
          <a:lstStyle/>
          <a:p>
            <a:r>
              <a:rPr lang="tr-TR" sz="2900" dirty="0"/>
              <a:t>Sonuç ve Öneriler</a:t>
            </a:r>
          </a:p>
        </p:txBody>
      </p:sp>
      <p:sp>
        <p:nvSpPr>
          <p:cNvPr id="12" name="Freeform: Shape 11">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Resim 4">
            <a:extLst>
              <a:ext uri="{FF2B5EF4-FFF2-40B4-BE49-F238E27FC236}">
                <a16:creationId xmlns:a16="http://schemas.microsoft.com/office/drawing/2014/main" id="{8CC3F2C4-9247-88A0-0906-DDA6C49543B7}"/>
              </a:ext>
            </a:extLst>
          </p:cNvPr>
          <p:cNvPicPr>
            <a:picLocks noChangeAspect="1"/>
          </p:cNvPicPr>
          <p:nvPr/>
        </p:nvPicPr>
        <p:blipFill>
          <a:blip r:embed="rId2"/>
          <a:srcRect r="-2" b="8703"/>
          <a:stretch>
            <a:fillRect/>
          </a:stretch>
        </p:blipFill>
        <p:spPr>
          <a:xfrm>
            <a:off x="524256" y="1831024"/>
            <a:ext cx="5578133" cy="4048568"/>
          </a:xfrm>
          <a:prstGeom prst="rect">
            <a:avLst/>
          </a:prstGeom>
        </p:spPr>
      </p:pic>
      <p:sp>
        <p:nvSpPr>
          <p:cNvPr id="3" name="İçerik Yer Tutucusu 2">
            <a:extLst>
              <a:ext uri="{FF2B5EF4-FFF2-40B4-BE49-F238E27FC236}">
                <a16:creationId xmlns:a16="http://schemas.microsoft.com/office/drawing/2014/main" id="{69B45516-9384-6E3E-C4CD-F2C16FD4C5DD}"/>
              </a:ext>
            </a:extLst>
          </p:cNvPr>
          <p:cNvSpPr>
            <a:spLocks noGrp="1"/>
          </p:cNvSpPr>
          <p:nvPr>
            <p:ph idx="1"/>
          </p:nvPr>
        </p:nvSpPr>
        <p:spPr>
          <a:xfrm>
            <a:off x="6510528" y="2013343"/>
            <a:ext cx="5157216" cy="4050792"/>
          </a:xfrm>
        </p:spPr>
        <p:txBody>
          <a:bodyPr vert="horz" lIns="91440" tIns="45720" rIns="91440" bIns="45720" rtlCol="0" anchor="t">
            <a:normAutofit/>
          </a:bodyPr>
          <a:lstStyle/>
          <a:p>
            <a:pPr marL="0" indent="0">
              <a:buNone/>
            </a:pPr>
            <a:r>
              <a:rPr lang="tr-TR" b="1" dirty="0"/>
              <a:t>En İyi Model:</a:t>
            </a:r>
            <a:endParaRPr lang="tr-TR" dirty="0"/>
          </a:p>
          <a:p>
            <a:r>
              <a:rPr lang="tr-TR" i="1"/>
              <a:t>Dört model karşılaştırıldığında </a:t>
            </a:r>
            <a:r>
              <a:rPr lang="tr-TR" i="1" err="1"/>
              <a:t>Random</a:t>
            </a:r>
            <a:r>
              <a:rPr lang="tr-TR" i="1" dirty="0"/>
              <a:t> </a:t>
            </a:r>
            <a:r>
              <a:rPr lang="tr-TR" i="1" err="1"/>
              <a:t>Forest</a:t>
            </a:r>
            <a:r>
              <a:rPr lang="tr-TR" i="1"/>
              <a:t> %87.25 doğruluk oranıyla en güvenilir sonucu üretmiştir.</a:t>
            </a:r>
            <a:endParaRPr lang="tr-TR" dirty="0"/>
          </a:p>
          <a:p>
            <a:pPr marL="0" indent="0">
              <a:buNone/>
            </a:pPr>
            <a:r>
              <a:rPr lang="tr-TR" b="1" dirty="0"/>
              <a:t>Genel Değerlendirme:</a:t>
            </a:r>
            <a:endParaRPr lang="tr-TR" dirty="0"/>
          </a:p>
          <a:p>
            <a:r>
              <a:rPr lang="tr-TR" i="1"/>
              <a:t>Makine öğrenmesi algoritmaları e-ticaret müşteri davranışını başarıyla tahmin edebilmektedir. </a:t>
            </a:r>
            <a:r>
              <a:rPr lang="tr-TR">
                <a:ea typeface="+mn-lt"/>
                <a:cs typeface="+mn-lt"/>
              </a:rPr>
              <a:t>Üyelik süresi, indirim oranı ve müşteri skoru</a:t>
            </a:r>
            <a:r>
              <a:rPr lang="tr-TR" i="1"/>
              <a:t> en belirleyici faktörler olarak öne çıkmıştır.</a:t>
            </a:r>
          </a:p>
          <a:p>
            <a:pPr marL="0" indent="0">
              <a:buNone/>
            </a:pPr>
            <a:endParaRPr lang="tr-TR" dirty="0"/>
          </a:p>
          <a:p>
            <a:endParaRPr lang="tr-TR" dirty="0"/>
          </a:p>
        </p:txBody>
      </p:sp>
    </p:spTree>
    <p:extLst>
      <p:ext uri="{BB962C8B-B14F-4D97-AF65-F5344CB8AC3E}">
        <p14:creationId xmlns:p14="http://schemas.microsoft.com/office/powerpoint/2010/main" val="22909806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094E24A8-44EF-3B15-3274-EC4E25F2DFD7}"/>
              </a:ext>
            </a:extLst>
          </p:cNvPr>
          <p:cNvSpPr>
            <a:spLocks noGrp="1"/>
          </p:cNvSpPr>
          <p:nvPr>
            <p:ph idx="1"/>
          </p:nvPr>
        </p:nvSpPr>
        <p:spPr>
          <a:xfrm>
            <a:off x="491144" y="1662545"/>
            <a:ext cx="11517976" cy="4589873"/>
          </a:xfrm>
        </p:spPr>
        <p:txBody>
          <a:bodyPr/>
          <a:lstStyle/>
          <a:p>
            <a:pPr marL="0" indent="0">
              <a:buNone/>
            </a:pPr>
            <a:r>
              <a:rPr lang="tr-TR" b="1" dirty="0"/>
              <a:t>Öneriler:</a:t>
            </a:r>
            <a:endParaRPr lang="tr-TR" dirty="0"/>
          </a:p>
          <a:p>
            <a:r>
              <a:rPr lang="tr-TR" dirty="0"/>
              <a:t>Gerçek platform verisiyle model yeniden eğitilebilir</a:t>
            </a:r>
          </a:p>
          <a:p>
            <a:r>
              <a:rPr lang="tr-TR" dirty="0"/>
              <a:t>Kampanyalar tekrar satın alma ihtimali yüksek müşterilere yönlendirilebilir</a:t>
            </a:r>
          </a:p>
          <a:p>
            <a:r>
              <a:rPr lang="tr-TR" dirty="0"/>
              <a:t>İade sayısı yüksek müşteriler için memnuniyet programı geliştirilebilir</a:t>
            </a:r>
          </a:p>
          <a:p>
            <a:pPr marL="0" indent="0">
              <a:buNone/>
            </a:pPr>
            <a:r>
              <a:rPr lang="tr-TR" b="1" dirty="0"/>
              <a:t>Kısıtlar:</a:t>
            </a:r>
            <a:endParaRPr lang="tr-TR" dirty="0"/>
          </a:p>
          <a:p>
            <a:r>
              <a:rPr lang="tr-TR" dirty="0"/>
              <a:t>Çalışma sentetik veri üzerinde gerçekleştirilmiştir</a:t>
            </a:r>
          </a:p>
          <a:p>
            <a:r>
              <a:rPr lang="tr-TR" dirty="0"/>
              <a:t>Gerçek dünya verisinde model performansı farklılaşabilir</a:t>
            </a:r>
          </a:p>
          <a:p>
            <a:endParaRPr lang="tr-TR" dirty="0"/>
          </a:p>
        </p:txBody>
      </p:sp>
      <p:sp>
        <p:nvSpPr>
          <p:cNvPr id="5" name="Metin kutusu 4">
            <a:extLst>
              <a:ext uri="{FF2B5EF4-FFF2-40B4-BE49-F238E27FC236}">
                <a16:creationId xmlns:a16="http://schemas.microsoft.com/office/drawing/2014/main" id="{469FE653-66B1-AA13-5EA9-2786D9F933C0}"/>
              </a:ext>
            </a:extLst>
          </p:cNvPr>
          <p:cNvSpPr txBox="1"/>
          <p:nvPr/>
        </p:nvSpPr>
        <p:spPr>
          <a:xfrm>
            <a:off x="518160" y="906380"/>
            <a:ext cx="6094268" cy="538609"/>
          </a:xfrm>
          <a:prstGeom prst="rect">
            <a:avLst/>
          </a:prstGeom>
          <a:noFill/>
        </p:spPr>
        <p:txBody>
          <a:bodyPr wrap="square">
            <a:spAutoFit/>
          </a:bodyPr>
          <a:lstStyle/>
          <a:p>
            <a:r>
              <a:rPr lang="tr-TR" sz="2900" b="1" dirty="0"/>
              <a:t>Sonuç ve Öneriler</a:t>
            </a:r>
          </a:p>
        </p:txBody>
      </p:sp>
    </p:spTree>
    <p:extLst>
      <p:ext uri="{BB962C8B-B14F-4D97-AF65-F5344CB8AC3E}">
        <p14:creationId xmlns:p14="http://schemas.microsoft.com/office/powerpoint/2010/main" val="30331536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4" name="Rectangle 13">
            <a:extLst>
              <a:ext uri="{FF2B5EF4-FFF2-40B4-BE49-F238E27FC236}">
                <a16:creationId xmlns:a16="http://schemas.microsoft.com/office/drawing/2014/main" id="{FAF3766F-DEF3-4802-BB0D-7A18EDD9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Başlık 1">
            <a:extLst>
              <a:ext uri="{FF2B5EF4-FFF2-40B4-BE49-F238E27FC236}">
                <a16:creationId xmlns:a16="http://schemas.microsoft.com/office/drawing/2014/main" id="{93B9673D-745B-77A9-8C79-3FCA12CF346F}"/>
              </a:ext>
            </a:extLst>
          </p:cNvPr>
          <p:cNvSpPr>
            <a:spLocks noGrp="1"/>
          </p:cNvSpPr>
          <p:nvPr>
            <p:ph type="title"/>
          </p:nvPr>
        </p:nvSpPr>
        <p:spPr>
          <a:xfrm>
            <a:off x="393178" y="2475863"/>
            <a:ext cx="4687975" cy="957783"/>
          </a:xfrm>
        </p:spPr>
        <p:txBody>
          <a:bodyPr vert="horz" lIns="91440" tIns="45720" rIns="91440" bIns="45720" rtlCol="0" anchor="t">
            <a:normAutofit/>
          </a:bodyPr>
          <a:lstStyle/>
          <a:p>
            <a:r>
              <a:rPr lang="en-US" sz="4800" dirty="0" err="1">
                <a:solidFill>
                  <a:schemeClr val="tx2"/>
                </a:solidFill>
              </a:rPr>
              <a:t>Teşekkürler</a:t>
            </a:r>
            <a:endParaRPr lang="en-US" sz="4800" dirty="0">
              <a:solidFill>
                <a:schemeClr val="tx2"/>
              </a:solidFill>
            </a:endParaRPr>
          </a:p>
        </p:txBody>
      </p:sp>
      <p:sp>
        <p:nvSpPr>
          <p:cNvPr id="16" name="Rectangle 15">
            <a:extLst>
              <a:ext uri="{FF2B5EF4-FFF2-40B4-BE49-F238E27FC236}">
                <a16:creationId xmlns:a16="http://schemas.microsoft.com/office/drawing/2014/main" id="{D91952F0-771E-D2ED-C333-EEED6708B8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346642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Smiling Face with No Fill">
            <a:extLst>
              <a:ext uri="{FF2B5EF4-FFF2-40B4-BE49-F238E27FC236}">
                <a16:creationId xmlns:a16="http://schemas.microsoft.com/office/drawing/2014/main" id="{BEE4091C-997F-6A76-602E-653ABA5EE16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130496" y="657369"/>
            <a:ext cx="5642166" cy="5642166"/>
          </a:xfrm>
          <a:prstGeom prst="rect">
            <a:avLst/>
          </a:prstGeom>
        </p:spPr>
      </p:pic>
      <p:sp>
        <p:nvSpPr>
          <p:cNvPr id="18" name="Rectangle 17">
            <a:extLst>
              <a:ext uri="{FF2B5EF4-FFF2-40B4-BE49-F238E27FC236}">
                <a16:creationId xmlns:a16="http://schemas.microsoft.com/office/drawing/2014/main" id="{3FB6D83C-2377-9CAD-A991-9E0B6AF250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3465681"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4" name="Metin kutusu 3">
            <a:extLst>
              <a:ext uri="{FF2B5EF4-FFF2-40B4-BE49-F238E27FC236}">
                <a16:creationId xmlns:a16="http://schemas.microsoft.com/office/drawing/2014/main" id="{4D997FBA-4F50-B60C-EB50-94550FD41FDC}"/>
              </a:ext>
            </a:extLst>
          </p:cNvPr>
          <p:cNvSpPr txBox="1"/>
          <p:nvPr/>
        </p:nvSpPr>
        <p:spPr>
          <a:xfrm>
            <a:off x="393178" y="4711146"/>
            <a:ext cx="2921522" cy="1200329"/>
          </a:xfrm>
          <a:prstGeom prst="rect">
            <a:avLst/>
          </a:prstGeom>
          <a:noFill/>
        </p:spPr>
        <p:txBody>
          <a:bodyPr wrap="square" rtlCol="0">
            <a:spAutoFit/>
          </a:bodyPr>
          <a:lstStyle/>
          <a:p>
            <a:r>
              <a:rPr lang="tr-TR" dirty="0"/>
              <a:t>Hazırlayan:</a:t>
            </a:r>
          </a:p>
          <a:p>
            <a:r>
              <a:rPr lang="tr-TR" dirty="0"/>
              <a:t>99. Dönem</a:t>
            </a:r>
          </a:p>
          <a:p>
            <a:r>
              <a:rPr lang="tr-TR" dirty="0"/>
              <a:t>Esma Çelikten</a:t>
            </a:r>
          </a:p>
          <a:p>
            <a:r>
              <a:rPr lang="tr-TR" dirty="0"/>
              <a:t>eeclktn@gmail.com</a:t>
            </a:r>
          </a:p>
        </p:txBody>
      </p:sp>
    </p:spTree>
    <p:extLst>
      <p:ext uri="{BB962C8B-B14F-4D97-AF65-F5344CB8AC3E}">
        <p14:creationId xmlns:p14="http://schemas.microsoft.com/office/powerpoint/2010/main" val="2947265327"/>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emplate/>
  <TotalTime>274</TotalTime>
  <Words>976</Words>
  <Application>Microsoft Office PowerPoint</Application>
  <PresentationFormat>Geniş ekran</PresentationFormat>
  <Paragraphs>125</Paragraphs>
  <Slides>20</Slides>
  <Notes>0</Notes>
  <HiddenSlides>0</HiddenSlides>
  <MMClips>0</MMClips>
  <ScaleCrop>false</ScaleCrop>
  <HeadingPairs>
    <vt:vector size="4" baseType="variant">
      <vt:variant>
        <vt:lpstr>Tema</vt:lpstr>
      </vt:variant>
      <vt:variant>
        <vt:i4>1</vt:i4>
      </vt:variant>
      <vt:variant>
        <vt:lpstr>Slayt Başlıkları</vt:lpstr>
      </vt:variant>
      <vt:variant>
        <vt:i4>20</vt:i4>
      </vt:variant>
    </vt:vector>
  </HeadingPairs>
  <TitlesOfParts>
    <vt:vector size="21" baseType="lpstr">
      <vt:lpstr>GestaltVTI</vt:lpstr>
      <vt:lpstr>Müşteri Sadakatini Tahmin Etmek: E-Ticaret Veri Analitiği Projesi</vt:lpstr>
      <vt:lpstr>E-Ticaret Müşterisi Tekrar Satın Alır Mı?</vt:lpstr>
      <vt:lpstr>PowerPoint Sunusu</vt:lpstr>
      <vt:lpstr>Kategori dağılımı grafiği;  Giyim ve Elektronik kategorisinden yapılan satış oranları daha yüksektir. </vt:lpstr>
      <vt:lpstr>Ödeme yöntemi dağılımı grafiği;  Kredi kartı ile yapılan ödeme sayısı diğerlerine oranla daha fazladır. </vt:lpstr>
      <vt:lpstr>Müşteri yaş dağılımı grafiği;  15-85 yaş arasında değişen müşteri dağılımı görülmektedir. </vt:lpstr>
      <vt:lpstr>Tekrar satın alma dağılımı grafiği;  Müşterilerin %40'ı tekrar satın alma yapmıştır. </vt:lpstr>
      <vt:lpstr>Korelasyon Matris Grafiği;  Korelasyon analizine göre tekrar satın almayı en çok etkileyen faktörler üyelik süresi, indirim oranı ve önceki satın alma sayısıdır. İade sayısı tek negatif etkili değişken olarak öne çıkmaktadır.</vt:lpstr>
      <vt:lpstr>Müşteri Skoru Grafiği;  Müşteri memnuniyet skoru arttıkça tekrar satın alma oranının da arttığı gözlemlenmiştir. Skor 1 olan müşterilerde tekrar alım düşükken, skor 4 olan müşterilerde belirgin şekilde yükselmektedir.</vt:lpstr>
      <vt:lpstr>Veri Temizleme</vt:lpstr>
      <vt:lpstr>Veri Temizleme – Aykırı Değer</vt:lpstr>
      <vt:lpstr>Encoding</vt:lpstr>
      <vt:lpstr>Tahminleyici Modeller</vt:lpstr>
      <vt:lpstr>Model Sonuçları </vt:lpstr>
      <vt:lpstr>Model Sonuçları</vt:lpstr>
      <vt:lpstr>Model Sonuçları</vt:lpstr>
      <vt:lpstr>Gradient Boosting — %100 </vt:lpstr>
      <vt:lpstr>Sonuç ve Öneriler</vt:lpstr>
      <vt:lpstr>PowerPoint Sunusu</vt:lpstr>
      <vt:lpstr>Teşekkürler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Esma Çelikten</dc:creator>
  <cp:lastModifiedBy>esma çelikten</cp:lastModifiedBy>
  <cp:revision>21</cp:revision>
  <dcterms:created xsi:type="dcterms:W3CDTF">2026-03-19T07:01:20Z</dcterms:created>
  <dcterms:modified xsi:type="dcterms:W3CDTF">2026-03-22T17:56:31Z</dcterms:modified>
</cp:coreProperties>
</file>